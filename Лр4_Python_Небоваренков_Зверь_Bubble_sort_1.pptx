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72" r:id="rId2"/>
    <p:sldId id="278" r:id="rId3"/>
    <p:sldId id="270" r:id="rId4"/>
    <p:sldId id="271" r:id="rId5"/>
    <p:sldId id="284" r:id="rId6"/>
    <p:sldId id="258" r:id="rId7"/>
    <p:sldId id="281" r:id="rId8"/>
    <p:sldId id="285" r:id="rId9"/>
    <p:sldId id="282" r:id="rId10"/>
    <p:sldId id="283" r:id="rId11"/>
    <p:sldId id="286" r:id="rId12"/>
    <p:sldId id="264" r:id="rId13"/>
    <p:sldId id="27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7"/>
  </p:normalViewPr>
  <p:slideViewPr>
    <p:cSldViewPr snapToGrid="0">
      <p:cViewPr>
        <p:scale>
          <a:sx n="66" d="100"/>
          <a:sy n="66" d="100"/>
        </p:scale>
        <p:origin x="763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BAFB4-5510-574D-86CE-C19EF2B42204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F4B505-333F-5443-AB4B-55FDA2D7E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805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F6830-4DAA-A53A-DBC6-2B31DE0E7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698357-FF67-D643-86B0-01A69803F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607506-713B-B73C-58AB-553822FA9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282E-8406-E949-9BDA-3161F01F6A39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839FC2-6E41-3096-3ECF-A9B51FCB0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FD556B-A598-C36F-18D5-80A0E5DB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45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FD57A-E021-CDCC-DCFA-DA8E2C5F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F4B259-9F37-4FD4-5800-CBEABF660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C19F06-4037-68E1-5067-15B079DB9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2137-869F-124E-AD6A-013DA00A3F47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002A7D-E410-4632-FAF9-D3ECE5E2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823628-5D46-3EFE-0018-AB894A01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096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DAA66-C678-D260-4C68-44F55E7E3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9798D5-7DBD-9406-876F-2FC6C5E5D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780257-FA24-8454-9A13-57E9FB40E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8E1F7-411F-FC40-89DE-55DB480AAE63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12C31C-5FAC-7AB9-BBB1-19658DFD4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6DED08-919A-A0FB-2DF1-50DBC6D7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71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3BBE5-A9B2-3028-C298-5B6DD673B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FFC7B8-C1F1-6CDA-4B13-2D2EFB767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B741E1-0B52-62AA-4F26-ED201C559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77B028-EDC7-28EE-38A2-666B6EE9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FE0A-851A-A244-B1D2-4B5649C57CA6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809D0C-464E-EE7F-74E2-DB993B4D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4A6677-7B78-C3F5-E787-8B4877D5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68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50D4E-2853-0433-2B86-8A126F77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C69172-07D5-E59B-3B31-6E2E408AC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82E44E-F136-599B-50FC-8C56C5B7E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4F49DE-D3F8-9D4C-1A5B-9D631E507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ACEABCD-EF84-9281-658B-6E8F6FCB1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8832499-F686-FB66-805E-F01EBDFF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008E-4B1B-C548-8956-97711596B574}" type="datetime1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7859144-F347-1389-67C7-196A2D08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CA24E7-C493-0D13-8EB8-5316A0C9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6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8A55B-FC8F-6E80-C0E4-4D2BB05A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1564A2B-CDAA-0FE9-E96B-AF9A2DE6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67300-804D-CF49-9DB0-3A0D159F127D}" type="datetime1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BBBE46-0F13-B069-37B2-D58D93E3F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F1068D-AE32-03BE-AB87-4C6DEC39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333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A8F72A-8F68-FF67-131F-CB8B0900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6229-FC3F-EC48-AC78-1679AA1FEDCB}" type="datetime1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956251C-AFCB-66B3-8817-ACA349F4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F43C3D-47A5-1867-CE7B-78179873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458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05FFA-1106-96BD-A738-F80DE3F5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1589BE-88C8-02CE-C58C-27AC5AEA9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F75806C-D898-4AB7-4FD5-6D2246047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FCD970-19C0-8163-1555-20B899A6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06BD9-4DD2-7A45-84E4-A9AA7317B60B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4332D1-5B9B-DE3A-E011-AF0AD542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6B4920-2830-28D1-04C6-29704383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41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76431-18F5-8C40-9DE5-1752C8F70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1DD190-4D29-46B6-DF14-A85DAACB6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51D86D-96CE-1EE4-4DCB-9F966C1F0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63B7FC-18F8-9BB0-A127-64E78BBB3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97B00-35E3-9F48-AF56-B6CA106F8B38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D92EB7-2000-9703-B902-6993319D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23BCA5-38F8-94C3-D41E-EA833905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67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EB823-1686-02E6-3533-BB6B9A7CE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4F57B2-4FAF-2ED2-2663-616B23261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3CA1A4-847D-C9EF-9C6E-8437B24C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0DC4-518B-6845-83BC-0FF75AC396BA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5DE0A0-EBDC-C10D-E20D-F553F6D5D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6D9EB4-C94B-0F1A-D5BA-25D60CE2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25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0834C73-D577-6C37-17F7-1C896C080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7BBF50-B994-1438-5C0A-B75A0C5EF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22F52E-FD68-59F5-5777-31F247EA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A9B2A-5F66-2444-8492-DF1C4D505A41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127BC8-5F91-4CE6-744A-339CC679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7D14CD-FE2B-8CB9-B7E0-BBED06346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80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89051E-13DB-963A-72FB-8C3727A1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70B3DA-A627-3D34-EB6E-DB5D02D04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F7BFC9-D89C-A681-7B02-6E40D014D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7C91E-D92D-154E-A5B5-4C0C70C715C8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C081CF-A378-17D6-D3E4-74A8C7D29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91AF09-AB47-3F0E-4B0D-37B2E5F70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32034-01A0-7847-98A4-B83C6CAD07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7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440-1606-BC69-E2AF-86A4ECFC0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лабораторной работе №4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4968-9A8F-F562-BEBD-29228932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06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Буланый С. Е.</a:t>
            </a:r>
          </a:p>
          <a:p>
            <a:pPr algn="r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Горковец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 С.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Проверили: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Профессор, д.т.н. Сидоренко Валентина Генадьевна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доцент, к.т.н. 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7046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F1E79-5123-9DF5-CD68-1441DBAA4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Оглавление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7794D1-7D36-8907-302F-2C54ECCF0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21671-2371-5D20-7210-4AF6C94462F9}"/>
              </a:ext>
            </a:extLst>
          </p:cNvPr>
          <p:cNvSpPr txBox="1"/>
          <p:nvPr/>
        </p:nvSpPr>
        <p:spPr>
          <a:xfrm>
            <a:off x="732099" y="1690688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Конвертация в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Python……………………..3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64041-6655-A63E-C136-A4012897D24D}"/>
              </a:ext>
            </a:extLst>
          </p:cNvPr>
          <p:cNvSpPr txBox="1"/>
          <p:nvPr/>
        </p:nvSpPr>
        <p:spPr>
          <a:xfrm>
            <a:off x="732099" y="2193931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Конечный</a:t>
            </a:r>
            <a:r>
              <a:rPr lang="en-US" sz="1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текст</a:t>
            </a:r>
            <a:r>
              <a:rPr lang="en-US" sz="1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на языке Python…………….4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CCCD5-FE27-C7E8-C431-2D1298528AA0}"/>
              </a:ext>
            </a:extLst>
          </p:cNvPr>
          <p:cNvSpPr txBox="1"/>
          <p:nvPr/>
        </p:nvSpPr>
        <p:spPr>
          <a:xfrm>
            <a:off x="732099" y="2697174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Binary Ninja — </a:t>
            </a:r>
            <a:r>
              <a:rPr lang="ru-RU" dirty="0"/>
              <a:t>анализ </a:t>
            </a:r>
            <a:r>
              <a:rPr lang="en-US" dirty="0"/>
              <a:t>EXE-</a:t>
            </a:r>
            <a:r>
              <a:rPr lang="ru-RU" dirty="0"/>
              <a:t>файла</a:t>
            </a:r>
            <a:r>
              <a:rPr lang="en-US" dirty="0"/>
              <a:t>………..5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72552-5FFE-37C5-20A2-E1F05BCF2334}"/>
              </a:ext>
            </a:extLst>
          </p:cNvPr>
          <p:cNvSpPr txBox="1"/>
          <p:nvPr/>
        </p:nvSpPr>
        <p:spPr>
          <a:xfrm>
            <a:off x="732099" y="320041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Псевдокод </a:t>
            </a:r>
            <a:r>
              <a:rPr lang="en-US" dirty="0"/>
              <a:t>main……………….6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2E8FB1-56D9-9B26-1F93-D0C8CB3C3F88}"/>
              </a:ext>
            </a:extLst>
          </p:cNvPr>
          <p:cNvSpPr txBox="1"/>
          <p:nvPr/>
        </p:nvSpPr>
        <p:spPr>
          <a:xfrm>
            <a:off x="732099" y="360682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main </a:t>
            </a:r>
            <a:r>
              <a:rPr lang="ru-RU" dirty="0"/>
              <a:t>на ассемблер</a:t>
            </a:r>
            <a:r>
              <a:rPr lang="en-US" dirty="0"/>
              <a:t>……………7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989377-5363-FDAC-5B6B-E97898358F87}"/>
              </a:ext>
            </a:extLst>
          </p:cNvPr>
          <p:cNvSpPr txBox="1"/>
          <p:nvPr/>
        </p:nvSpPr>
        <p:spPr>
          <a:xfrm>
            <a:off x="732099" y="4110072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Binary Ninja — </a:t>
            </a:r>
            <a:r>
              <a:rPr lang="ru-RU" dirty="0"/>
              <a:t>псевдокод и ассемблер</a:t>
            </a:r>
            <a:r>
              <a:rPr lang="en-US" dirty="0"/>
              <a:t>..8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042664-FA59-3A81-4C88-AA9004768E9C}"/>
              </a:ext>
            </a:extLst>
          </p:cNvPr>
          <p:cNvSpPr txBox="1"/>
          <p:nvPr/>
        </p:nvSpPr>
        <p:spPr>
          <a:xfrm>
            <a:off x="732099" y="448650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</a:t>
            </a:r>
            <a:r>
              <a:rPr lang="en-US" dirty="0"/>
              <a:t>utter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Псевдокод </a:t>
            </a:r>
            <a:r>
              <a:rPr lang="en-US" dirty="0"/>
              <a:t>main……………………….9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5C8239-2A1A-4CA9-32CA-6197A5CBACA9}"/>
              </a:ext>
            </a:extLst>
          </p:cNvPr>
          <p:cNvSpPr txBox="1"/>
          <p:nvPr/>
        </p:nvSpPr>
        <p:spPr>
          <a:xfrm>
            <a:off x="732099" y="486294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</a:t>
            </a:r>
            <a:r>
              <a:rPr lang="en-US" dirty="0"/>
              <a:t>utter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main </a:t>
            </a:r>
            <a:r>
              <a:rPr lang="ru-RU" dirty="0"/>
              <a:t>на ассемблер</a:t>
            </a:r>
            <a:r>
              <a:rPr lang="en-US" dirty="0"/>
              <a:t>………………….10</a:t>
            </a:r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9A69F3-1168-77F1-7067-2473C5F2505A}"/>
              </a:ext>
            </a:extLst>
          </p:cNvPr>
          <p:cNvSpPr txBox="1"/>
          <p:nvPr/>
        </p:nvSpPr>
        <p:spPr>
          <a:xfrm>
            <a:off x="732099" y="5239374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Cutter </a:t>
            </a:r>
            <a:r>
              <a:rPr lang="ru-RU" dirty="0"/>
              <a:t>-</a:t>
            </a:r>
            <a:r>
              <a:rPr lang="en-US" dirty="0"/>
              <a:t> </a:t>
            </a:r>
            <a:r>
              <a:rPr lang="ru-RU" dirty="0"/>
              <a:t>ассемблер и декомпилятор</a:t>
            </a:r>
            <a:r>
              <a:rPr lang="en-US" dirty="0"/>
              <a:t>……11</a:t>
            </a:r>
            <a:endParaRPr lang="ru-RU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90CD35-CBF3-828A-A980-54FD86527C4F}"/>
              </a:ext>
            </a:extLst>
          </p:cNvPr>
          <p:cNvSpPr txBox="1"/>
          <p:nvPr/>
        </p:nvSpPr>
        <p:spPr>
          <a:xfrm>
            <a:off x="732099" y="5581084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 Editor………………………………….12</a:t>
            </a:r>
            <a:endParaRPr lang="ru-RU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7E0B26-DBF6-402C-3E37-FD2C3EFB9F7A}"/>
              </a:ext>
            </a:extLst>
          </p:cNvPr>
          <p:cNvSpPr txBox="1"/>
          <p:nvPr/>
        </p:nvSpPr>
        <p:spPr>
          <a:xfrm>
            <a:off x="732099" y="5968615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…………………………………….13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9169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1585769-B3AA-876A-EE51-AC18D3A32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4740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Мы взяли программу на языке C, которая решает заданную функцию: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dirty="0"/>
              <a:t>Для конвертации программного обеспечения в язык</a:t>
            </a:r>
            <a:r>
              <a:rPr lang="en-US" dirty="0"/>
              <a:t> Python</a:t>
            </a:r>
            <a:r>
              <a:rPr lang="ru-RU" dirty="0"/>
              <a:t> выполнялось с использованием искусственного интеллекта</a:t>
            </a:r>
            <a:r>
              <a:rPr lang="en-US" dirty="0"/>
              <a:t>. 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Версия питона использовалась 3.1.7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8892F5-261E-EFA2-E27B-9FF36F06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3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552E4423-0B3B-C26A-23A8-9CAE68A76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" y="111351"/>
            <a:ext cx="9855200" cy="1325563"/>
          </a:xfrm>
        </p:spPr>
        <p:txBody>
          <a:bodyPr/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Конвертация в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/>
          </a:p>
        </p:txBody>
      </p:sp>
      <p:pic>
        <p:nvPicPr>
          <p:cNvPr id="2" name="Рисунок 1" descr="Изображение выглядит как Шрифт, рукописный текст, текст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07FA78-C1F0-80C1-9192-CFA1080EE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502505"/>
            <a:ext cx="4413839" cy="130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53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492FB-6C76-143E-FCB2-C2A952AF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Конечный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текст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на языке Python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7D041-9EA8-C025-E595-E4A70F620EE4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 err="1"/>
              <a:t>После</a:t>
            </a:r>
            <a:r>
              <a:rPr lang="en-US" sz="2200" dirty="0"/>
              <a:t> </a:t>
            </a:r>
            <a:r>
              <a:rPr lang="en-US" sz="2200" dirty="0" err="1"/>
              <a:t>применения</a:t>
            </a:r>
            <a:r>
              <a:rPr lang="en-US" sz="2200" dirty="0"/>
              <a:t> </a:t>
            </a:r>
            <a:r>
              <a:rPr lang="en-US" sz="2200" dirty="0" err="1"/>
              <a:t>правок</a:t>
            </a:r>
            <a:r>
              <a:rPr lang="en-US" sz="2200" dirty="0"/>
              <a:t> </a:t>
            </a:r>
            <a:r>
              <a:rPr lang="en-US" sz="2200" dirty="0" err="1"/>
              <a:t>был</a:t>
            </a:r>
            <a:r>
              <a:rPr lang="en-US" sz="2200" dirty="0"/>
              <a:t> </a:t>
            </a:r>
            <a:r>
              <a:rPr lang="en-US" sz="2200" dirty="0" err="1"/>
              <a:t>получен</a:t>
            </a:r>
            <a:r>
              <a:rPr lang="en-US" sz="2200" dirty="0"/>
              <a:t> </a:t>
            </a:r>
            <a:r>
              <a:rPr lang="en-US" sz="2200" dirty="0" err="1"/>
              <a:t>итоговый</a:t>
            </a:r>
            <a:r>
              <a:rPr lang="en-US" sz="2200" dirty="0"/>
              <a:t>, </a:t>
            </a:r>
            <a:r>
              <a:rPr lang="en-US" sz="2200" dirty="0" err="1"/>
              <a:t>успешно</a:t>
            </a:r>
            <a:r>
              <a:rPr lang="en-US" sz="2200" dirty="0"/>
              <a:t> </a:t>
            </a:r>
            <a:r>
              <a:rPr lang="en-US" sz="2200" dirty="0" err="1"/>
              <a:t>компилируемый</a:t>
            </a:r>
            <a:r>
              <a:rPr lang="en-US" sz="2200" dirty="0"/>
              <a:t> </a:t>
            </a:r>
            <a:r>
              <a:rPr lang="en-US" sz="2200" dirty="0" err="1"/>
              <a:t>листинг</a:t>
            </a:r>
            <a:r>
              <a:rPr lang="en-US" sz="2200" dirty="0"/>
              <a:t> программы на языке Python.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B4CDF6-B739-3BAB-8091-588688927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47" y="640080"/>
            <a:ext cx="6761017" cy="5577840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DA46F9E5-39EC-6196-1D5E-41BCCE893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E132034-01A0-7847-98A4-B83C6CAD07E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240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FE5C2-7B51-7D9B-D611-2CA47069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ABEFF3-5B53-C6E6-B394-859A55442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5"/>
            <a:ext cx="10515600" cy="1325563"/>
          </a:xfrm>
        </p:spPr>
        <p:txBody>
          <a:bodyPr/>
          <a:lstStyle/>
          <a:p>
            <a:pPr latinLnBrk="1"/>
            <a:r>
              <a:rPr lang="en-US" dirty="0"/>
              <a:t>Binary Ninja — </a:t>
            </a:r>
            <a:r>
              <a:rPr lang="ru-RU" dirty="0"/>
              <a:t>анализ </a:t>
            </a:r>
            <a:r>
              <a:rPr lang="en-US" dirty="0"/>
              <a:t>EXE-</a:t>
            </a:r>
            <a:r>
              <a:rPr lang="ru-RU" dirty="0"/>
              <a:t>файла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2619E4-F7FE-B8FE-1CCB-32F2A035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5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E528BE-57BA-5DEB-75FC-64CBF5FCE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771" y="1178839"/>
            <a:ext cx="7430269" cy="5148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19A960-D742-A854-B212-633BE60A9F44}"/>
              </a:ext>
            </a:extLst>
          </p:cNvPr>
          <p:cNvSpPr txBox="1"/>
          <p:nvPr/>
        </p:nvSpPr>
        <p:spPr>
          <a:xfrm>
            <a:off x="186267" y="1873568"/>
            <a:ext cx="3860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 скриншоте представлен список функций, обнаруженных дизассемблером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Binary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Ninja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в исполняемом файле. Все функции имеют автоматически сгенерированные имена вида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Menlo"/>
              </a:rPr>
              <a:t>sub</a:t>
            </a:r>
            <a:r>
              <a:rPr lang="ru-RU" b="0" i="0" dirty="0">
                <a:solidFill>
                  <a:srgbClr val="0F1115"/>
                </a:solidFill>
                <a:effectLst/>
                <a:latin typeface="Menlo"/>
              </a:rPr>
              <a:t>_...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 указанием адресов в памяти. Это характерно для EXE-файлов, скомпилированных из Python с помощью PyInstaller, где пользовательский код скрыт внутри загрузчика.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8794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57213-D8A6-2D11-9875-87CEF3D17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5"/>
            <a:ext cx="10515600" cy="1325563"/>
          </a:xfrm>
        </p:spPr>
        <p:txBody>
          <a:bodyPr/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Псевдокод </a:t>
            </a:r>
            <a:r>
              <a:rPr lang="en-US" dirty="0"/>
              <a:t>main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4FA325-BC11-787F-FA47-F100B258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3EAA78-52B0-D2EE-8C2A-70DB5A150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691" y="1309047"/>
            <a:ext cx="7646844" cy="48478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A58BC3-E4F7-1C36-D462-EF0C2DA58228}"/>
              </a:ext>
            </a:extLst>
          </p:cNvPr>
          <p:cNvSpPr txBox="1"/>
          <p:nvPr/>
        </p:nvSpPr>
        <p:spPr>
          <a:xfrm>
            <a:off x="213438" y="1547359"/>
            <a:ext cx="34949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 сборке </a:t>
            </a:r>
            <a:r>
              <a:rPr lang="en-US" dirty="0"/>
              <a:t>.exe </a:t>
            </a:r>
            <a:r>
              <a:rPr lang="ru-RU" dirty="0"/>
              <a:t>файла использовался </a:t>
            </a:r>
            <a:r>
              <a:rPr lang="en-US" dirty="0" err="1"/>
              <a:t>pyinstaller</a:t>
            </a:r>
            <a:r>
              <a:rPr lang="en-US" dirty="0"/>
              <a:t> </a:t>
            </a:r>
            <a:r>
              <a:rPr lang="ru-RU" dirty="0"/>
              <a:t>который работает как архиватор. Мы взяли функцию </a:t>
            </a:r>
            <a:r>
              <a:rPr lang="en-US" dirty="0"/>
              <a:t>main.</a:t>
            </a:r>
            <a:r>
              <a:rPr lang="ru-RU" dirty="0"/>
              <a:t> </a:t>
            </a:r>
          </a:p>
          <a:p>
            <a:r>
              <a:rPr lang="ru-RU" dirty="0"/>
              <a:t>Такой код характерен для загрузчика PyInstaller, который распаковывает и извлекает Python-байт-код из архива. Так же отображаются перекрестные ссылки, показывающие связи между функциями и данными. Отсутствуют инструкции, соответствующие алгоритму вычисления </a:t>
            </a:r>
            <a:r>
              <a:rPr lang="ru-RU" dirty="0" err="1"/>
              <a:t>кусочной</a:t>
            </a:r>
            <a:r>
              <a:rPr lang="ru-RU" dirty="0"/>
              <a:t> функции.</a:t>
            </a:r>
          </a:p>
        </p:txBody>
      </p:sp>
    </p:spTree>
    <p:extLst>
      <p:ext uri="{BB962C8B-B14F-4D97-AF65-F5344CB8AC3E}">
        <p14:creationId xmlns:p14="http://schemas.microsoft.com/office/powerpoint/2010/main" val="4286833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1F8C1-730F-7A1B-9B0C-4D71D2D3F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3AC72-1727-1794-25FA-14E143769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5"/>
            <a:ext cx="10515600" cy="1325563"/>
          </a:xfrm>
        </p:spPr>
        <p:txBody>
          <a:bodyPr/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main </a:t>
            </a:r>
            <a:r>
              <a:rPr lang="ru-RU" dirty="0"/>
              <a:t>на ассемблер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1354EE-1FB0-CA79-A7D1-EBF1311B2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7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8063F-4158-3A38-7DBA-502781494E34}"/>
              </a:ext>
            </a:extLst>
          </p:cNvPr>
          <p:cNvSpPr txBox="1"/>
          <p:nvPr/>
        </p:nvSpPr>
        <p:spPr>
          <a:xfrm>
            <a:off x="323512" y="1462088"/>
            <a:ext cx="307848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скриншоте представлен ассемблерный код функции main в дизассемблере </a:t>
            </a:r>
            <a:r>
              <a:rPr lang="ru-RU" dirty="0" err="1"/>
              <a:t>Binary</a:t>
            </a:r>
            <a:r>
              <a:rPr lang="ru-RU" dirty="0"/>
              <a:t> </a:t>
            </a:r>
            <a:r>
              <a:rPr lang="ru-RU" dirty="0" err="1"/>
              <a:t>Ninja.Отсутствуют</a:t>
            </a:r>
            <a:r>
              <a:rPr lang="ru-RU" dirty="0"/>
              <a:t> инструкции, соответствующие вычислению </a:t>
            </a:r>
            <a:r>
              <a:rPr lang="ru-RU" dirty="0" err="1"/>
              <a:t>кусочной</a:t>
            </a:r>
            <a:r>
              <a:rPr lang="ru-RU" dirty="0"/>
              <a:t> функции (математические операции, условные переходы). Вместо этого виден типичный для PyInstaller код загрузчика, который передаёт управление функциям распаковки и инициализации среды выполнения Python.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B561DB-0D91-7448-821D-5258EB36E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623" y="1251115"/>
            <a:ext cx="7337385" cy="510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00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C025-D8DF-3118-F7E8-FBE38224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1C2AB-B192-AAF0-8725-A03969AD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5"/>
            <a:ext cx="10515600" cy="1325563"/>
          </a:xfrm>
        </p:spPr>
        <p:txBody>
          <a:bodyPr/>
          <a:lstStyle/>
          <a:p>
            <a:r>
              <a:rPr lang="en-US" dirty="0"/>
              <a:t>Binary Ninja — </a:t>
            </a:r>
            <a:r>
              <a:rPr lang="ru-RU" dirty="0"/>
              <a:t>псевдокод и ассемблер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23A40E-416D-DEA1-EFE6-2E3177BE1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8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60023D-D31B-9FE4-0028-939CABC15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806" y="1141404"/>
            <a:ext cx="7478930" cy="5064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8CAC6D-3EE6-BF32-663E-D100E989F3D4}"/>
              </a:ext>
            </a:extLst>
          </p:cNvPr>
          <p:cNvSpPr txBox="1"/>
          <p:nvPr/>
        </p:nvSpPr>
        <p:spPr>
          <a:xfrm>
            <a:off x="220133" y="2381241"/>
            <a:ext cx="32512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 скриншоте представлена функция sub_1400040e0, на которую из main передаётся управление. Это одна из ключевых функций загрузчика PyInstaller.</a:t>
            </a:r>
          </a:p>
          <a:p>
            <a:r>
              <a:rPr lang="ru-RU" dirty="0"/>
              <a:t>Код содержит системные вызовы и инициализацию среды выполнения.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3820138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60FB5-F409-FCD8-EA3E-F296AFC76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DC0D9-512F-DF4A-E4E4-26E1C0404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5"/>
            <a:ext cx="10515600" cy="1325563"/>
          </a:xfrm>
        </p:spPr>
        <p:txBody>
          <a:bodyPr/>
          <a:lstStyle/>
          <a:p>
            <a:r>
              <a:rPr lang="ru-RU" dirty="0"/>
              <a:t>С</a:t>
            </a:r>
            <a:r>
              <a:rPr lang="en-US" dirty="0"/>
              <a:t>utter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Псевдокод </a:t>
            </a:r>
            <a:r>
              <a:rPr lang="en-US" dirty="0"/>
              <a:t>main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FF2767-00FC-0D3F-3F9B-CF3405FC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9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2A0E70-70B5-5B8C-AC23-8C5658D62A78}"/>
              </a:ext>
            </a:extLst>
          </p:cNvPr>
          <p:cNvSpPr txBox="1"/>
          <p:nvPr/>
        </p:nvSpPr>
        <p:spPr>
          <a:xfrm>
            <a:off x="331971" y="1767840"/>
            <a:ext cx="24575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скриншоте представлен декомпилированный код в </a:t>
            </a:r>
            <a:r>
              <a:rPr lang="en-US" dirty="0"/>
              <a:t>Cutter. </a:t>
            </a:r>
            <a:r>
              <a:rPr lang="ru-RU" dirty="0"/>
              <a:t>При сборке </a:t>
            </a:r>
            <a:r>
              <a:rPr lang="en-US" dirty="0"/>
              <a:t>.exe </a:t>
            </a:r>
            <a:r>
              <a:rPr lang="ru-RU" dirty="0"/>
              <a:t>файла использовался </a:t>
            </a:r>
            <a:r>
              <a:rPr lang="en-US" dirty="0" err="1"/>
              <a:t>pyinstaller</a:t>
            </a:r>
            <a:r>
              <a:rPr lang="en-US" dirty="0"/>
              <a:t> </a:t>
            </a:r>
            <a:r>
              <a:rPr lang="ru-RU" dirty="0"/>
              <a:t>который работает как архиватор. Мы взяли функцию </a:t>
            </a:r>
            <a:r>
              <a:rPr lang="en-US" dirty="0"/>
              <a:t>main.</a:t>
            </a:r>
            <a:r>
              <a:rPr lang="ru-RU" dirty="0"/>
              <a:t> </a:t>
            </a:r>
          </a:p>
          <a:p>
            <a:r>
              <a:rPr lang="ru-RU" dirty="0"/>
              <a:t>На </a:t>
            </a:r>
            <a:r>
              <a:rPr lang="ru-RU" dirty="0" err="1"/>
              <a:t>скиншоте</a:t>
            </a:r>
            <a:r>
              <a:rPr lang="ru-RU" dirty="0"/>
              <a:t> видно, что </a:t>
            </a:r>
            <a:r>
              <a:rPr lang="en-US" dirty="0"/>
              <a:t>EXE-</a:t>
            </a:r>
            <a:r>
              <a:rPr lang="ru-RU" dirty="0"/>
              <a:t>файл содержит упакованный </a:t>
            </a:r>
            <a:r>
              <a:rPr lang="en-US" dirty="0"/>
              <a:t>Python-</a:t>
            </a:r>
            <a:r>
              <a:rPr lang="ru-RU" dirty="0"/>
              <a:t>байт-код.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A244F2-79F9-DF7B-02BF-C3CE5ABC5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084" y="1203767"/>
            <a:ext cx="8990997" cy="504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94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17949-F7D8-C55E-5D0A-3DACE187B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9E06C-D3A4-4684-B0E5-298EA2DAE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5"/>
            <a:ext cx="10515600" cy="1325563"/>
          </a:xfrm>
        </p:spPr>
        <p:txBody>
          <a:bodyPr/>
          <a:lstStyle/>
          <a:p>
            <a:r>
              <a:rPr lang="ru-RU" dirty="0"/>
              <a:t>С</a:t>
            </a:r>
            <a:r>
              <a:rPr lang="en-US" dirty="0"/>
              <a:t>utter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main </a:t>
            </a:r>
            <a:r>
              <a:rPr lang="ru-RU" dirty="0"/>
              <a:t>на ассемблер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E1889A-3792-4877-6F1F-74433B167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10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5564B5-FDB7-91C1-3B91-5FC4B5F396F3}"/>
              </a:ext>
            </a:extLst>
          </p:cNvPr>
          <p:cNvSpPr txBox="1"/>
          <p:nvPr/>
        </p:nvSpPr>
        <p:spPr>
          <a:xfrm>
            <a:off x="310950" y="2177743"/>
            <a:ext cx="26004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скриншоте показан ассемблерный код в дизассемблере </a:t>
            </a:r>
            <a:r>
              <a:rPr lang="ru-RU" dirty="0" err="1"/>
              <a:t>Cutter</a:t>
            </a:r>
            <a:r>
              <a:rPr lang="ru-RU" dirty="0"/>
              <a:t>. Код содержит множество однотипных инструкций mov и </a:t>
            </a:r>
            <a:r>
              <a:rPr lang="ru-RU" dirty="0" err="1"/>
              <a:t>xor</a:t>
            </a:r>
            <a:r>
              <a:rPr lang="ru-RU" dirty="0"/>
              <a:t>, характерных для начальной инициализации памяти загрузчиком.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9AE36D-17F3-79C5-1237-C02424286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742" y="1462088"/>
            <a:ext cx="8545298" cy="48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52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291A7-13AE-3D5D-A338-D4BC668FA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26D75-B060-AE1B-BBFD-858F9AD1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36525"/>
            <a:ext cx="10515600" cy="1325563"/>
          </a:xfrm>
        </p:spPr>
        <p:txBody>
          <a:bodyPr/>
          <a:lstStyle/>
          <a:p>
            <a:r>
              <a:rPr lang="en-US" dirty="0"/>
              <a:t>Cutter </a:t>
            </a:r>
            <a:r>
              <a:rPr lang="ru-RU" dirty="0"/>
              <a:t>-</a:t>
            </a:r>
            <a:r>
              <a:rPr lang="en-US" dirty="0"/>
              <a:t> </a:t>
            </a:r>
            <a:r>
              <a:rPr lang="ru-RU" dirty="0"/>
              <a:t>ассемблер и декомпилятор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9C7CD6-6589-E998-F6E2-5D51C166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11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00E9E-561B-A21D-CB44-D323F6B93088}"/>
              </a:ext>
            </a:extLst>
          </p:cNvPr>
          <p:cNvSpPr txBox="1"/>
          <p:nvPr/>
        </p:nvSpPr>
        <p:spPr>
          <a:xfrm>
            <a:off x="331971" y="1767840"/>
            <a:ext cx="2600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A6C2DB-0D87-BC21-8BEA-F4229CB4D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794" y="1315284"/>
            <a:ext cx="8103591" cy="45634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00B482-B542-E63A-3EE9-A0EC44A527C8}"/>
              </a:ext>
            </a:extLst>
          </p:cNvPr>
          <p:cNvSpPr txBox="1"/>
          <p:nvPr/>
        </p:nvSpPr>
        <p:spPr>
          <a:xfrm>
            <a:off x="247888" y="1952506"/>
            <a:ext cx="268449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 скриншоте представлен шестнадцатеричный дамп исполняемого файла в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Cutter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 В текстовом представлении видны повторяющиеся символы и участки с нулевыми значениями. Такой дамп позволяет анализировать структуру файла на низком уровне.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8601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B4EF9-60E5-B96D-566F-F260B089E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00" y="365125"/>
            <a:ext cx="10864200" cy="678875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 Editor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98A95-DF14-1125-66AD-28878C899E7C}"/>
              </a:ext>
            </a:extLst>
          </p:cNvPr>
          <p:cNvSpPr txBox="1"/>
          <p:nvPr/>
        </p:nvSpPr>
        <p:spPr>
          <a:xfrm>
            <a:off x="489600" y="1110010"/>
            <a:ext cx="426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.text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содержит машинный код программы,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.data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изменяемые данные,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константы и строки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3A10B32-F88A-44BF-E482-B46017AC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12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E05478-0880-95AC-B7B7-F185AB759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998" y="328642"/>
            <a:ext cx="4851150" cy="292157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B9F9A33-B6F9-790C-2A69-D17B1CA6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732063"/>
            <a:ext cx="5524670" cy="119915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4C826FB-D136-3978-6E99-F883690B0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69" y="4079239"/>
            <a:ext cx="5529731" cy="198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63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243D-D83B-FC72-BCED-577224ACA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53449-04A0-2E7B-8E34-41811020A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/>
              <a:t>В ходе выполнения лабораторной работы был проведён анализ </a:t>
            </a:r>
            <a:r>
              <a:rPr lang="en" dirty="0"/>
              <a:t>Python-</a:t>
            </a:r>
            <a:r>
              <a:rPr lang="ru-RU" dirty="0"/>
              <a:t>программы, преобразованной и упакованной в исполняемый файл формата .</a:t>
            </a:r>
            <a:r>
              <a:rPr lang="en" dirty="0"/>
              <a:t>exe.</a:t>
            </a:r>
            <a:endParaRPr lang="ru-RU" dirty="0"/>
          </a:p>
          <a:p>
            <a:pPr marL="0" indent="0" algn="just">
              <a:buNone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Когда мы открыли EXE-файл в дизассемблерах, мы увидели код нашей программы. 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Вывод: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PyInstaller компилирует Python в машинный код. Поэтому в EXE видена логика программы.</a:t>
            </a:r>
          </a:p>
          <a:p>
            <a:pPr marL="0" indent="0" algn="just">
              <a:buNone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В отличие от Python, C программа компилируется напрямую в машинный код. Поэтому в дизассемблере сразу видна логика работы программы. Для Python-приложений процесс анализа сложнее.</a:t>
            </a:r>
          </a:p>
          <a:p>
            <a:pPr marL="0" indent="0" algn="just">
              <a:buNone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Мы убедились, что реверс-инжиниринг EXE-файлов, собранных из Python, возможен но сложнее чем на С. Это главное отличие от анализа нативных C приложений.</a:t>
            </a:r>
          </a:p>
          <a:p>
            <a:pPr marL="0" indent="0" algn="just">
              <a:buNone/>
            </a:pP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 marL="0" indent="0" algn="just">
              <a:buNone/>
            </a:pP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en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A118D6-8476-0CC9-F9BB-E3C3F50B2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32034-01A0-7847-98A4-B83C6CAD07E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8517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615</Words>
  <Application>Microsoft Office PowerPoint</Application>
  <PresentationFormat>Широкоэкранный</PresentationFormat>
  <Paragraphs>68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Menlo</vt:lpstr>
      <vt:lpstr>quote-cjk-patch</vt:lpstr>
      <vt:lpstr>Times New Roman</vt:lpstr>
      <vt:lpstr>Тема Office</vt:lpstr>
      <vt:lpstr>Отчёт по лабораторной работе №4</vt:lpstr>
      <vt:lpstr>Оглавление</vt:lpstr>
      <vt:lpstr>Конвертация в Python</vt:lpstr>
      <vt:lpstr>Конечный текст на языке Python</vt:lpstr>
      <vt:lpstr>Binary Ninja — анализ EXE-файла</vt:lpstr>
      <vt:lpstr>Binary ninja Псевдокод main</vt:lpstr>
      <vt:lpstr>Binary ninja main на ассемблер </vt:lpstr>
      <vt:lpstr>Binary Ninja — псевдокод и ассемблер</vt:lpstr>
      <vt:lpstr>Сutter Псевдокод main</vt:lpstr>
      <vt:lpstr>Сutter main на ассемблер </vt:lpstr>
      <vt:lpstr>Cutter - ассемблер и декомпилятор</vt:lpstr>
      <vt:lpstr>010 Editor 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 №3</dc:title>
  <dc:creator>nbejmel@gmail.com</dc:creator>
  <cp:lastModifiedBy>Буланый Сергей Евгеньевич</cp:lastModifiedBy>
  <cp:revision>26</cp:revision>
  <dcterms:created xsi:type="dcterms:W3CDTF">2026-03-17T18:00:15Z</dcterms:created>
  <dcterms:modified xsi:type="dcterms:W3CDTF">2026-04-02T07:39:02Z</dcterms:modified>
</cp:coreProperties>
</file>