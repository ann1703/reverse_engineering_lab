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358" r:id="rId3"/>
    <p:sldId id="321" r:id="rId4"/>
    <p:sldId id="328" r:id="rId5"/>
    <p:sldId id="329" r:id="rId6"/>
    <p:sldId id="330" r:id="rId7"/>
    <p:sldId id="322" r:id="rId8"/>
    <p:sldId id="342" r:id="rId9"/>
    <p:sldId id="343" r:id="rId10"/>
    <p:sldId id="344" r:id="rId11"/>
    <p:sldId id="347" r:id="rId12"/>
    <p:sldId id="345" r:id="rId13"/>
    <p:sldId id="346" r:id="rId14"/>
    <p:sldId id="348" r:id="rId15"/>
    <p:sldId id="349" r:id="rId16"/>
    <p:sldId id="350" r:id="rId17"/>
    <p:sldId id="351" r:id="rId18"/>
    <p:sldId id="355" r:id="rId19"/>
    <p:sldId id="356" r:id="rId20"/>
    <p:sldId id="2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оглавления" id="{7EC18D1B-C781-44B1-AF9D-4B9E82B3CA4A}">
          <p14:sldIdLst/>
        </p14:section>
        <p14:section name="Раздел 1" id="{CADF11AE-FA9E-427F-B313-E9CD8AA4DBFB}">
          <p14:sldIdLst>
            <p14:sldId id="256"/>
            <p14:sldId id="358"/>
          </p14:sldIdLst>
        </p14:section>
        <p14:section name="Раздел 2" id="{065CD18C-9453-454C-BAE5-EA6CBE76F10F}">
          <p14:sldIdLst>
            <p14:sldId id="321"/>
          </p14:sldIdLst>
        </p14:section>
        <p14:section name="Раздел 3" id="{D06BC8F1-A073-4E14-943B-974183C20A92}">
          <p14:sldIdLst>
            <p14:sldId id="328"/>
          </p14:sldIdLst>
        </p14:section>
        <p14:section name="Раздел 4" id="{D7FCA195-0B3E-43AD-B9AC-AEBA649892BA}">
          <p14:sldIdLst>
            <p14:sldId id="329"/>
          </p14:sldIdLst>
        </p14:section>
        <p14:section name="Раздел 5" id="{3B2ACC3A-EE1F-4A4C-B844-118ED27EA150}">
          <p14:sldIdLst>
            <p14:sldId id="330"/>
          </p14:sldIdLst>
        </p14:section>
        <p14:section name="Раздел 6" id="{0B0B46A7-7A9A-4DCD-81E9-F4A57A9B0E63}">
          <p14:sldIdLst>
            <p14:sldId id="322"/>
          </p14:sldIdLst>
        </p14:section>
        <p14:section name="Раздел 7" id="{7AEE69C8-CA6B-4AF4-B241-0C9D38D9ED49}">
          <p14:sldIdLst>
            <p14:sldId id="342"/>
            <p14:sldId id="343"/>
          </p14:sldIdLst>
        </p14:section>
        <p14:section name="Раздел 8" id="{12451D9B-9EE5-4DB8-BAB9-1482A86A1C56}">
          <p14:sldIdLst>
            <p14:sldId id="344"/>
            <p14:sldId id="347"/>
            <p14:sldId id="345"/>
            <p14:sldId id="346"/>
          </p14:sldIdLst>
        </p14:section>
        <p14:section name="Раздел 9" id="{8EC72228-2E1B-47E6-BCDA-6E9F3DAA0F56}">
          <p14:sldIdLst>
            <p14:sldId id="348"/>
          </p14:sldIdLst>
        </p14:section>
        <p14:section name="Раздел 10" id="{E9F64DB4-A39D-46AE-A575-40BD78C79A28}">
          <p14:sldIdLst>
            <p14:sldId id="349"/>
          </p14:sldIdLst>
        </p14:section>
        <p14:section name="Раздел 11" id="{AC8540A0-5870-4FE3-8111-80B4376E6F85}">
          <p14:sldIdLst>
            <p14:sldId id="350"/>
            <p14:sldId id="351"/>
          </p14:sldIdLst>
        </p14:section>
        <p14:section name="Раздел 12" id="{8E1F6230-F723-443F-A3B2-5D0E60F18DA9}">
          <p14:sldIdLst>
            <p14:sldId id="355"/>
          </p14:sldIdLst>
        </p14:section>
        <p14:section name="Раздел 13" id="{B99BF7C1-0AD6-4ABF-93BA-69607D269CBA}">
          <p14:sldIdLst>
            <p14:sldId id="356"/>
          </p14:sldIdLst>
        </p14:section>
        <p14:section name="Раздел 14" id="{63A840DE-5311-44B9-AFB8-A488BE62895E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4" autoAdjust="0"/>
    <p:restoredTop sz="94660"/>
  </p:normalViewPr>
  <p:slideViewPr>
    <p:cSldViewPr snapToGrid="0">
      <p:cViewPr>
        <p:scale>
          <a:sx n="75" d="100"/>
          <a:sy n="75" d="100"/>
        </p:scale>
        <p:origin x="605" y="-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B5F127-EF7C-4D16-B460-0CE257C7E17B}" type="datetimeFigureOut">
              <a:rPr lang="ru-RU" smtClean="0"/>
              <a:t>29.04.2026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5BB2A-7750-4F15-B86C-FEB94FE9D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89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35BB2A-7750-4F15-B86C-FEB94FE9D7B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9687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E719D-693B-4A77-84DB-9E8C1D23A8C1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227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E3134-B3F2-4317-B871-B88FB4A00131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079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788A9-13F1-4F40-8019-093569E6E3EF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772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AA0-6125-4875-A987-6C4FF4B5CE30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838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0800-C1F3-441D-AFE3-704E247D4095}" type="datetime1">
              <a:rPr lang="ru-RU" smtClean="0"/>
              <a:t>29.04.2026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124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DE1E7-2FCF-4D15-B644-3CE192867603}" type="datetime1">
              <a:rPr lang="ru-RU" smtClean="0"/>
              <a:t>29.04.2026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18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69D6F9-9522-4E0E-B764-D722A322B6E0}" type="datetime1">
              <a:rPr lang="ru-RU" smtClean="0"/>
              <a:t>29.04.2026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29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60F34C-B6D8-4D1D-84D8-54213C78C279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5160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9A17E-64F2-46E8-BAC1-CFD826F028E0}" type="datetime1">
              <a:rPr lang="ru-RU" smtClean="0"/>
              <a:t>29.04.2026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0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815C9-C4A9-460B-9F3D-D5B099F812AA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06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ECA59-152E-4437-ADB5-E4AD6E9B3A47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98097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24392-178F-4638-9B43-936544BC9B5A}" type="datetime1">
              <a:rPr lang="ru-RU" smtClean="0"/>
              <a:t>29.04.2026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8C628-6975-4CC2-A0F1-47F458287F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193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slide" Target="slide4.xml"/><Relationship Id="rId26" Type="http://schemas.openxmlformats.org/officeDocument/2006/relationships/slide" Target="slide16.xml"/><Relationship Id="rId3" Type="http://schemas.openxmlformats.org/officeDocument/2006/relationships/image" Target="../media/image3.png"/><Relationship Id="rId21" Type="http://schemas.openxmlformats.org/officeDocument/2006/relationships/slide" Target="slide7.xml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slide" Target="slide3.xml"/><Relationship Id="rId25" Type="http://schemas.openxmlformats.org/officeDocument/2006/relationships/slide" Target="slide15.xml"/><Relationship Id="rId2" Type="http://schemas.openxmlformats.org/officeDocument/2006/relationships/image" Target="../media/image2.png"/><Relationship Id="rId16" Type="http://schemas.openxmlformats.org/officeDocument/2006/relationships/slide" Target="slide1.xml"/><Relationship Id="rId20" Type="http://schemas.openxmlformats.org/officeDocument/2006/relationships/slide" Target="slide6.xml"/><Relationship Id="rId29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slide" Target="slide14.xml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slide" Target="slide10.xml"/><Relationship Id="rId28" Type="http://schemas.openxmlformats.org/officeDocument/2006/relationships/slide" Target="slide19.xml"/><Relationship Id="rId10" Type="http://schemas.openxmlformats.org/officeDocument/2006/relationships/image" Target="../media/image10.png"/><Relationship Id="rId19" Type="http://schemas.openxmlformats.org/officeDocument/2006/relationships/slide" Target="slide5.xml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slide" Target="slide8.xml"/><Relationship Id="rId27" Type="http://schemas.openxmlformats.org/officeDocument/2006/relationships/slide" Target="slide18.xml"/><Relationship Id="rId30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зарисовка, диаграмма, Параллельный, рисуно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34D5A-C08D-EBA0-4253-19400E1E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624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568ABC-F9C9-7674-7AC8-046D01A49FFB}"/>
              </a:ext>
            </a:extLst>
          </p:cNvPr>
          <p:cNvSpPr txBox="1"/>
          <p:nvPr/>
        </p:nvSpPr>
        <p:spPr>
          <a:xfrm>
            <a:off x="706581" y="2126746"/>
            <a:ext cx="482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Лабораторная №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endParaRPr lang="ru-RU" sz="24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03276-700E-14FF-D019-58105A8A7754}"/>
              </a:ext>
            </a:extLst>
          </p:cNvPr>
          <p:cNvSpPr txBox="1"/>
          <p:nvPr/>
        </p:nvSpPr>
        <p:spPr>
          <a:xfrm>
            <a:off x="626302" y="5086198"/>
            <a:ext cx="51953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Выполнили – студ. Буланый Сергей Евгеньевич, ТКИ-341, студ. Горковец Анна Сергеевна, ТКИ-341</a:t>
            </a:r>
          </a:p>
          <a:p>
            <a:pPr algn="just"/>
            <a:r>
              <a:rPr lang="ru-RU" sz="16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Проверили - д. т. н., проф. Сидоренко Валентина Геннадьевна, д. к. т. н. 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50158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A8FD74-6C8B-2A1F-CDC2-B723BBC8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ОГЛАВЛЕНИЕ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8F5DEF0-1F66-C4AB-3EDC-0341C300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8C628-6975-4CC2-A0F1-47F458287FF0}" type="slidenum">
              <a:rPr lang="ru-RU" smtClean="0"/>
              <a:t>2</a:t>
            </a:fld>
            <a:endParaRPr lang="ru-RU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6" name="Интерактивное оглавление 5">
                <a:extLst>
                  <a:ext uri="{FF2B5EF4-FFF2-40B4-BE49-F238E27FC236}">
                    <a16:creationId xmlns:a16="http://schemas.microsoft.com/office/drawing/2014/main" id="{8B7F1B92-129F-88AC-7C6C-59D7F7CD91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062029182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CADF11AE-FA9E-427F-B313-E9CD8AA4DBFB}">
                    <psuz:zmPr id="{F1D76E07-EAFB-45E6-B15D-0D79DDA018AA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3820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65CD18C-9453-454C-BAE5-EA6CBE76F10F}">
                    <psuz:zmPr id="{1CE90811-9190-48C9-9AA4-44679783C28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47608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06BC8F1-A073-4E14-943B-974183C20A92}">
                    <psuz:zmPr id="{86BA1D3B-D0DF-4B5B-9C38-19662D150A26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311396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D7FCA195-0B3E-43AD-B9AC-AEBA649892BA}">
                    <psuz:zmPr id="{DA1CFE42-60A7-4A79-B2B4-9235E231D5E9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275184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3B2ACC3A-EE1F-4A4C-B844-118ED27EA150}">
                    <psuz:zmPr id="{401424D3-E0B6-4171-97C2-E72577E3F24C}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238972" y="50763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0B0B46A7-7A9A-4DCD-81E9-F4A57A9B0E63}">
                    <psuz:zmPr id="{AE57E5C9-0CFD-45A3-AC6D-825A4B85C2C8}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3820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7AEE69C8-CA6B-4AF4-B241-0C9D38D9ED49}">
                    <psuz:zmPr id="{7323762D-1A56-4F6F-83E4-C461BEB2C7F3}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47608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12451D9B-9EE5-4DB8-BAB9-1482A86A1C56}">
                    <psuz:zmPr id="{0368EF5C-9CD2-489C-A714-AC4AF16023A8}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311396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EC72228-2E1B-47E6-BCDA-6E9F3DAA0F56}">
                    <psuz:zmPr id="{6EC0B459-38E1-4A49-AFA8-4390BB99A519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275184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9F64DB4-A39D-46AE-A575-40BD78C79A28}">
                    <psuz:zmPr id="{C7DF844B-712C-42E7-9628-EBFB4FC99838}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8238972" y="1643317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AC8540A0-5870-4FE3-8111-80B4376E6F85}">
                    <psuz:zmPr id="{188138B2-37EE-4818-945E-C3DD1DAE5893}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83820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8E1F6230-F723-443F-A3B2-5D0E60F18DA9}">
                    <psuz:zmPr id="{C23CBAC3-14C4-459B-9C55-47F2561F59AD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347608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B99BF7C1-0AD6-4ABF-93BA-69607D269CBA}">
                    <psuz:zmPr id="{D739C01D-B370-4678-8096-7BC998681E08}" transitionDur="1000">
                      <p166:blipFill xmlns:p166="http://schemas.microsoft.com/office/powerpoint/2016/6/main">
                        <a:blip r:embed="rId1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4311396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3A840DE-5311-44B9-AFB8-A488BE62895E}">
                    <psuz:zmPr id="{C7D9DC2C-973B-43D6-B7FC-9358735042AB}" transitionDur="1000">
                      <p166:blipFill xmlns:p166="http://schemas.microsoft.com/office/powerpoint/2016/6/main">
                        <a:blip r:embed="rId1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6275184" y="2779002"/>
                          <a:ext cx="1892808" cy="106470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6" name="Интерактивное оглавление 5">
                <a:extLst>
                  <a:ext uri="{FF2B5EF4-FFF2-40B4-BE49-F238E27FC236}">
                    <a16:creationId xmlns:a16="http://schemas.microsoft.com/office/drawing/2014/main" id="{8B7F1B92-129F-88AC-7C6C-59D7F7CD917C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3" name="Рисунок 3">
                  <a:hlinkClick r:id="rId1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222020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5" name="Рисунок 5">
                  <a:hlinkClick r:id="rId1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185808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8" name="Рисунок 8">
                  <a:hlinkClick r:id="rId1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49596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9" name="Рисунок 9">
                  <a:hlinkClick r:id="rId1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13384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0" name="Рисунок 10">
                  <a:hlinkClick r:id="rId20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077172" y="233325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1" name="Рисунок 11">
                  <a:hlinkClick r:id="rId21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2020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2" name="Рисунок 12">
                  <a:hlinkClick r:id="rId22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185808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3" name="Рисунок 13">
                  <a:hlinkClick r:id="rId23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149596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4" name="Рисунок 14">
                  <a:hlinkClick r:id="rId24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113384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5" name="Рисунок 15">
                  <a:hlinkClick r:id="rId25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77172" y="3468942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6" name="Рисунок 16">
                  <a:hlinkClick r:id="rId2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22020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7" name="Рисунок 17">
                  <a:hlinkClick r:id="rId2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85808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8" name="Рисунок 18">
                  <a:hlinkClick r:id="rId2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149596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9" name="Рисунок 19">
                  <a:hlinkClick r:id="rId2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13384" y="4604627"/>
                  <a:ext cx="1892808" cy="1064705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pic>
        <p:nvPicPr>
          <p:cNvPr id="7" name="Рисунок 6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C3471EF-8643-DD23-98BD-37CC1302CF2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815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3</a:t>
            </a:fld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2135560" y="334530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Exe</a:t>
            </a:r>
            <a:r>
              <a:rPr lang="ru-RU" sz="4800" dirty="0"/>
              <a:t> </a:t>
            </a:r>
            <a:r>
              <a:rPr lang="ru-RU" sz="4000" dirty="0"/>
              <a:t>файл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2758" y="3591408"/>
            <a:ext cx="786648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скриншоте показан номер </a:t>
            </a:r>
            <a:r>
              <a:rPr lang="en-US" sz="2600" dirty="0"/>
              <a:t>exe </a:t>
            </a:r>
            <a:r>
              <a:rPr lang="ru-RU" sz="2600" dirty="0"/>
              <a:t>файла, который достался нам при случайном выборе. Это исходный объект исследования, о котором на момент получения не было известно ничего — ни язык программирования, ни назначение, ни внутренняя структура.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A0E2A11-8C0C-63FD-5C68-E16F1BBE8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9" y="2314462"/>
            <a:ext cx="12043302" cy="592294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52E7E0E-4E58-30E8-F410-2AA38BBDF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2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2135560" y="334530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Запуск </a:t>
            </a:r>
            <a:r>
              <a:rPr lang="en-US" sz="4000" dirty="0"/>
              <a:t>exe</a:t>
            </a:r>
            <a:r>
              <a:rPr lang="ru-RU" sz="4000" dirty="0"/>
              <a:t> файла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0085" y="4576977"/>
            <a:ext cx="1156335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скриншоте представлен вывод программы в терминале при первом запуске. Суть: программа решает квадратное уравнение </a:t>
            </a:r>
            <a:r>
              <a:rPr lang="en-US" sz="2600" dirty="0"/>
              <a:t>-</a:t>
            </a:r>
            <a:r>
              <a:rPr lang="ru-RU" sz="2600" dirty="0"/>
              <a:t> запрашивает коэффициенты a, b, c, вычисляет дискриминант и выводит корни x</a:t>
            </a:r>
            <a:r>
              <a:rPr lang="en-US" sz="2600" dirty="0"/>
              <a:t>_</a:t>
            </a:r>
            <a:r>
              <a:rPr lang="ru-RU" sz="2600" dirty="0"/>
              <a:t>1 и x</a:t>
            </a:r>
            <a:r>
              <a:rPr lang="en-US" sz="2600" dirty="0"/>
              <a:t>_</a:t>
            </a:r>
            <a:r>
              <a:rPr lang="ru-RU" sz="2600" dirty="0"/>
              <a:t>2.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D1EFB80-0E53-002C-267B-95561B47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557" y="1453270"/>
            <a:ext cx="11644885" cy="2636996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464D05-0AF7-430E-C969-A792DDC744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70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5</a:t>
            </a:fld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754560" y="326242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Восстановленный код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1050" y="5279132"/>
            <a:ext cx="106299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слайде представлен программный код, который мы написали на основе анализа поведения EXE-файла.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29F0C9D-0E57-89DC-B8EC-761CE68F6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569" y="1061254"/>
            <a:ext cx="5684861" cy="4146873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15D500-FD4A-76D6-194F-891625BE0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181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6</a:t>
            </a:fld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838200" y="236622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Запуск восстановленного кода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850" y="5195516"/>
            <a:ext cx="1154430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скриншоте показан терминал с результатом выполнения написанного нами кода. Программа выдаёт точно такой же функционал, что и исходный EXE-файл</a:t>
            </a:r>
            <a:r>
              <a:rPr lang="en-US" sz="2600" dirty="0"/>
              <a:t>.</a:t>
            </a:r>
            <a:endParaRPr lang="ru-RU" sz="2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D2B20F3-D866-8CA0-9221-3125993CF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433" y="1578652"/>
            <a:ext cx="8085134" cy="3084746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17A1389-1591-AC30-B4A3-7898132C3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216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7</a:t>
            </a:fld>
            <a:endParaRPr lang="ru-RU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2135560" y="334530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/>
              <a:t>Энтропия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250" y="5316100"/>
            <a:ext cx="112395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График показывает распределение энтропии по файлу. Общая энтропия составила 4,2273. Данное значение говорит об отсутствии сильного шифрования и значительного сжатия.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81C6207-C0AF-A92C-6AC3-0E150603F2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3" t="67429" b="3982"/>
          <a:stretch>
            <a:fillRect/>
          </a:stretch>
        </p:blipFill>
        <p:spPr bwMode="auto">
          <a:xfrm>
            <a:off x="2693166" y="1163321"/>
            <a:ext cx="6805668" cy="4133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0C5849A-2EAB-7704-E735-ACE05B8EB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60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C1BE-79FB-F2FD-77DC-B5A4FC31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F40D94D-873B-4893-66A4-7E8D65FF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8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86CBD39-4625-E739-1D19-44F8249F831E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Псевдокод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01</a:t>
            </a:r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EB9C20-6920-54EF-0C9A-29C491160AA1}"/>
              </a:ext>
            </a:extLst>
          </p:cNvPr>
          <p:cNvSpPr txBox="1"/>
          <p:nvPr/>
        </p:nvSpPr>
        <p:spPr>
          <a:xfrm>
            <a:off x="398892" y="1238335"/>
            <a:ext cx="396298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слайде видна инициализация программы: настройка безопасности, вызов __</a:t>
            </a:r>
            <a:r>
              <a:rPr lang="ru-RU" sz="2600" dirty="0" err="1"/>
              <a:t>CheckForDebuggerJustMyCode</a:t>
            </a:r>
            <a:r>
              <a:rPr lang="ru-RU" sz="2600" dirty="0"/>
              <a:t>, выделение памяти в стеке и начальные вызовы </a:t>
            </a:r>
            <a:r>
              <a:rPr lang="ru-RU" sz="2600" dirty="0" err="1"/>
              <a:t>std</a:t>
            </a:r>
            <a:r>
              <a:rPr lang="ru-RU" sz="2600" dirty="0"/>
              <a:t>::</a:t>
            </a:r>
            <a:r>
              <a:rPr lang="ru-RU" sz="2600" dirty="0" err="1"/>
              <a:t>cout</a:t>
            </a:r>
            <a:r>
              <a:rPr lang="ru-RU" sz="2600" dirty="0"/>
              <a:t> для вывода заголовка "Решение квадратного уравнения". 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2AFB9E4-4600-14A9-A043-AB634F387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97D435-0842-DCEE-7219-38A7302CCB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5462" y="1390650"/>
            <a:ext cx="7378644" cy="458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72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3927-8E82-6901-019F-6C83E4ED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367CB6-E5CF-E171-7BC9-5C9C2E29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9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086768-BF53-49DE-0C09-B6F5E113F72F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Псевдокод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02</a:t>
            </a:r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1E56D-D877-79DA-B82A-A2B3258F95F3}"/>
              </a:ext>
            </a:extLst>
          </p:cNvPr>
          <p:cNvSpPr txBox="1"/>
          <p:nvPr/>
        </p:nvSpPr>
        <p:spPr>
          <a:xfrm>
            <a:off x="50487" y="1534451"/>
            <a:ext cx="339148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фрагменте видны вызовы </a:t>
            </a:r>
            <a:r>
              <a:rPr lang="ru-RU" sz="2600" dirty="0" err="1"/>
              <a:t>std</a:t>
            </a:r>
            <a:r>
              <a:rPr lang="ru-RU" sz="2600" dirty="0"/>
              <a:t>::</a:t>
            </a:r>
            <a:r>
              <a:rPr lang="ru-RU" sz="2600" dirty="0" err="1"/>
              <a:t>cin</a:t>
            </a:r>
            <a:r>
              <a:rPr lang="ru-RU" sz="2600" dirty="0"/>
              <a:t> для ввода коэффициентов a, b и c, вычисление дискриминанта по формуле b² - 4ac, проверка знака дискриминанта и условные переходы. 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1EA31A-1822-90B5-1C77-F54EAE19E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04AD21-8C3E-520F-BC8D-66C1D8B6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3907" y="1133565"/>
            <a:ext cx="8467606" cy="463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48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27C29-05A0-6D68-BEA9-959A36BB6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F6CDBA-8542-50B0-9213-ED63C5E7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10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F6B91C9-9A15-CA2B-CCE4-7D3B6B374F0A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ассемблер 01 </a:t>
            </a:r>
            <a:endParaRPr lang="ru-RU" sz="4000" dirty="0"/>
          </a:p>
          <a:p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004F79-9979-FD13-C0A0-0DF78C5CA920}"/>
              </a:ext>
            </a:extLst>
          </p:cNvPr>
          <p:cNvSpPr txBox="1"/>
          <p:nvPr/>
        </p:nvSpPr>
        <p:spPr>
          <a:xfrm>
            <a:off x="8557647" y="1448415"/>
            <a:ext cx="339148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фрагменте виден пролог функции - сохранение регистров и выделение памяти в стеке, а также первые вызовы </a:t>
            </a:r>
            <a:r>
              <a:rPr lang="ru-RU" sz="2600" dirty="0" err="1"/>
              <a:t>std</a:t>
            </a:r>
            <a:r>
              <a:rPr lang="ru-RU" sz="2600" dirty="0"/>
              <a:t>::</a:t>
            </a:r>
            <a:r>
              <a:rPr lang="ru-RU" sz="2600" dirty="0" err="1"/>
              <a:t>cout</a:t>
            </a:r>
            <a:r>
              <a:rPr lang="ru-RU" sz="2600" dirty="0"/>
              <a:t> для вывода заголовка "Решение квадратного уравнения ax^2 + </a:t>
            </a:r>
            <a:r>
              <a:rPr lang="ru-RU" sz="2600" dirty="0" err="1"/>
              <a:t>bx</a:t>
            </a:r>
            <a:r>
              <a:rPr lang="ru-RU" sz="2600" dirty="0"/>
              <a:t> + c = 0" и запроса коэффициента a.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DEE964-94F7-788E-3D40-1AD85043E8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FAA979F-886F-3064-346D-B1FF004957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27" y="1308296"/>
            <a:ext cx="7772400" cy="504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15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4581-7467-B954-19C9-B8EF1B107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47787C-A71B-18ED-C816-FC076777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11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4DE373BF-0348-7AC7-1260-52262503CEE1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ассемблер 02</a:t>
            </a:r>
            <a:endParaRPr lang="ru-RU" sz="4000" dirty="0"/>
          </a:p>
          <a:p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230615-750B-5998-1EBE-69E8ADA0BE8E}"/>
              </a:ext>
            </a:extLst>
          </p:cNvPr>
          <p:cNvSpPr txBox="1"/>
          <p:nvPr/>
        </p:nvSpPr>
        <p:spPr>
          <a:xfrm>
            <a:off x="8557647" y="1985663"/>
            <a:ext cx="339148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В этой части видны вызовы </a:t>
            </a:r>
            <a:r>
              <a:rPr lang="ru-RU" sz="2600" dirty="0" err="1"/>
              <a:t>std</a:t>
            </a:r>
            <a:r>
              <a:rPr lang="ru-RU" sz="2600" dirty="0"/>
              <a:t>::</a:t>
            </a:r>
            <a:r>
              <a:rPr lang="ru-RU" sz="2600" dirty="0" err="1"/>
              <a:t>cin</a:t>
            </a:r>
            <a:r>
              <a:rPr lang="ru-RU" sz="2600" dirty="0"/>
              <a:t> для ввода коэффициентов a, b и c, а также объявление переменных. Начинает прослеживаться структура программы.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7F43342-DAF0-55DF-AF84-81E6BFA7A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FC9FD2A-E5A9-381E-FFC6-6A8971D53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73" y="941678"/>
            <a:ext cx="7346337" cy="574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595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1AEA9-91D7-C8A3-5E84-60378DAEB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00C1AC1-ECBF-48F4-D31D-46FF6C78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12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2E84DD2-B9E8-D53B-6EA3-33674B556EA0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ассемблер 03 </a:t>
            </a:r>
            <a:endParaRPr lang="ru-RU" sz="4000" dirty="0"/>
          </a:p>
          <a:p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E0B29D-2A36-681C-2602-68E5D0DEFF4C}"/>
              </a:ext>
            </a:extLst>
          </p:cNvPr>
          <p:cNvSpPr txBox="1"/>
          <p:nvPr/>
        </p:nvSpPr>
        <p:spPr>
          <a:xfrm>
            <a:off x="8557647" y="1585554"/>
            <a:ext cx="339148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Здесь расположен основной вычислительный блок - вычисление дискриминанта по формуле b² - 4ac. Видны операции умножения, вычитания, сравнения с нулём, условные переходы. 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785B699-BF9B-24E4-069E-91D7C49F3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8ABE81-0813-9F64-038C-3DCA629FA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760" y="975055"/>
            <a:ext cx="6838950" cy="5746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78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41C7-70B5-9786-BF0A-10F4DDF4F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2C26EC1-93A5-E80A-9049-462BF169C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13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7352237-A72B-5F68-563E-177384D3207E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ассемблер 04 </a:t>
            </a:r>
            <a:endParaRPr lang="ru-RU" sz="4000" dirty="0"/>
          </a:p>
          <a:p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611BA0-C278-BC93-7C54-919BCFFF9E0E}"/>
              </a:ext>
            </a:extLst>
          </p:cNvPr>
          <p:cNvSpPr txBox="1"/>
          <p:nvPr/>
        </p:nvSpPr>
        <p:spPr>
          <a:xfrm>
            <a:off x="8557647" y="2785882"/>
            <a:ext cx="339148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Тут показан возврат результата, очистка стека, восстановление регистров и инструкция ret. 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1C74CD7-82E6-52A5-5B0E-538A99860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A85F8F-1387-29A3-1078-7CCE95D53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1330" y="979342"/>
            <a:ext cx="5994870" cy="570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47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A563-7318-E877-902B-7EF15EDE2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F0D6666-3CB8-7E1F-CF0E-C1BD96DE9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14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D9673A2-701D-7963-833B-CF633E1AA114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utter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Псевдокод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endParaRPr lang="ru-RU" sz="4000" dirty="0"/>
          </a:p>
          <a:p>
            <a:endParaRPr lang="ru-RU" sz="4000" dirty="0"/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A803E1-1B41-1B27-6760-08CABEC59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20E9F5F-5B3F-F8B3-2A9F-1CC5E5ED7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70" y="828791"/>
            <a:ext cx="3600400" cy="555567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CF4FAC-C8BD-84C7-121B-8A1B9B416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822" y="828791"/>
            <a:ext cx="3159852" cy="567796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027FC4-7B89-C455-F43A-B49F4C251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748" y="828791"/>
            <a:ext cx="3600400" cy="555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95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DFD1B-407D-3D7F-2722-6C5323991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1E0BB1-A60B-70D2-6B98-812F9833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15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2DF4E05-846C-E98A-8EE9-938062ABDAA8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utter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ассемблер </a:t>
            </a:r>
            <a:endParaRPr lang="ru-RU" sz="4000" dirty="0"/>
          </a:p>
          <a:p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1149B-1441-093C-2234-F4E1F3757BFE}"/>
              </a:ext>
            </a:extLst>
          </p:cNvPr>
          <p:cNvSpPr txBox="1"/>
          <p:nvPr/>
        </p:nvSpPr>
        <p:spPr>
          <a:xfrm>
            <a:off x="434818" y="1468718"/>
            <a:ext cx="3391489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скриншоте представлен ассемблерный код функции main в </a:t>
            </a:r>
            <a:r>
              <a:rPr lang="ru-RU" sz="2600" dirty="0" err="1"/>
              <a:t>Cutter</a:t>
            </a:r>
            <a:r>
              <a:rPr lang="ru-RU" sz="2600" dirty="0"/>
              <a:t>. Видны те же вызовы </a:t>
            </a:r>
            <a:r>
              <a:rPr lang="ru-RU" sz="2600" dirty="0" err="1"/>
              <a:t>std</a:t>
            </a:r>
            <a:r>
              <a:rPr lang="ru-RU" sz="2600" dirty="0"/>
              <a:t>::</a:t>
            </a:r>
            <a:r>
              <a:rPr lang="ru-RU" sz="2600" dirty="0" err="1"/>
              <a:t>basic_ostream</a:t>
            </a:r>
            <a:r>
              <a:rPr lang="ru-RU" sz="2600" dirty="0"/>
              <a:t>, работа со стеком, инструкции пересылки данных и арифметические операции. 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0EEE058-9E59-5E08-82EF-2D56FDD28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CEF6440-AE6F-78B1-79B1-0C0248D26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5871" y="1260745"/>
            <a:ext cx="6227369" cy="490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17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2F74-9A4B-C366-4AD2-9F34655CF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0C06FE-6F57-8401-B0C7-FBF6B4CDA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16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287A17B-68F4-D800-A844-27EDF82FAD7B}"/>
              </a:ext>
            </a:extLst>
          </p:cNvPr>
          <p:cNvSpPr txBox="1">
            <a:spLocks/>
          </p:cNvSpPr>
          <p:nvPr/>
        </p:nvSpPr>
        <p:spPr>
          <a:xfrm>
            <a:off x="1918390" y="100923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Graf, </a:t>
            </a: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000" dirty="0"/>
          </a:p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000" dirty="0"/>
          </a:p>
          <a:p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54D65D-70D3-AD64-2CBD-B8CF5879D1D9}"/>
              </a:ext>
            </a:extLst>
          </p:cNvPr>
          <p:cNvSpPr txBox="1"/>
          <p:nvPr/>
        </p:nvSpPr>
        <p:spPr>
          <a:xfrm>
            <a:off x="5804590" y="1745911"/>
            <a:ext cx="48582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изображении представлен полный обзорный вид графа. Видно всё множество блоков и переходов между ними. Граф наглядно отображает три ветви алгоритма в зависимости от знака дискриминанта: D &gt; 0, D = 0 и D &lt; 0.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D80E6F5-33BF-5DC6-C211-71D93DFDE1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8B949D7-B23F-6657-75CA-6617F7AFB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599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238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5274B-92BD-BC51-4011-25B8A3C35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FB4DFF4-0C56-35D1-0727-2AEE5F73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17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A82421D-CD6E-4469-D76F-7C9E538063A2}"/>
              </a:ext>
            </a:extLst>
          </p:cNvPr>
          <p:cNvSpPr txBox="1">
            <a:spLocks/>
          </p:cNvSpPr>
          <p:nvPr/>
        </p:nvSpPr>
        <p:spPr>
          <a:xfrm>
            <a:off x="1995363" y="7834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Graf, </a:t>
            </a:r>
            <a:r>
              <a:rPr lang="e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ninja</a:t>
            </a:r>
            <a:endParaRPr lang="ru-RU" sz="4000" dirty="0"/>
          </a:p>
          <a:p>
            <a:endParaRPr lang="ru-RU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E1A95-9DA2-4E3E-B016-C3EE5B0FE808}"/>
              </a:ext>
            </a:extLst>
          </p:cNvPr>
          <p:cNvSpPr txBox="1"/>
          <p:nvPr/>
        </p:nvSpPr>
        <p:spPr>
          <a:xfrm>
            <a:off x="3752371" y="1563803"/>
            <a:ext cx="485822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Здесь можно детально рассмотреть начальные блоки, вычисления дискриминанта, вывода x1 и x2 и выхода из функции. 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DBDD8F2-212E-3324-3F58-E3D147A84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29294F-7991-0CF6-D905-541F6AC9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62" y="93778"/>
            <a:ext cx="3290580" cy="531258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048073A-F3AA-290E-CEF3-472E341B3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660" y="828790"/>
            <a:ext cx="3461223" cy="516272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828644-FBE4-9E64-02F2-85EF11784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0992" y="4033065"/>
            <a:ext cx="6266484" cy="274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70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5ADF-9CDA-CFB3-B6F3-9E1B6B6F8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38A02B-EEE4-EE8C-F6C0-61FEBC6AB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18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74B9EEAF-ECC4-7DDA-63EA-4F837AC632FE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Hex</a:t>
            </a:r>
            <a:r>
              <a:rPr lang="ru-RU" sz="4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8B9EB9-8E57-3504-C019-C4B8B2F2A384}"/>
              </a:ext>
            </a:extLst>
          </p:cNvPr>
          <p:cNvSpPr txBox="1"/>
          <p:nvPr/>
        </p:nvSpPr>
        <p:spPr>
          <a:xfrm>
            <a:off x="550031" y="1949846"/>
            <a:ext cx="447341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На данном слайде показано шестнадцатеричное представление фрагмента исполняемого файла. Этот вид был получен при помощи Binary Ninja. Hex позволяет увидеть программу на самом низком уровне - уровне байтов. 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949F7B1-0BC0-8082-E7A0-130663878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B868270-6C51-BD28-1538-975990E26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168" y="941678"/>
            <a:ext cx="5233299" cy="570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444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7610-10C7-9A3E-5548-896BB822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C98A3EA-178C-470D-24D5-EACBC606B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19</a:t>
            </a:fld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38A1464-F65C-61B5-82E9-5ED37C3ED6E4}"/>
              </a:ext>
            </a:extLst>
          </p:cNvPr>
          <p:cNvSpPr txBox="1">
            <a:spLocks/>
          </p:cNvSpPr>
          <p:nvPr/>
        </p:nvSpPr>
        <p:spPr>
          <a:xfrm>
            <a:off x="135310" y="206666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sz="40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F2DD9-0B21-F386-1FBA-4C3DB5CE048A}"/>
              </a:ext>
            </a:extLst>
          </p:cNvPr>
          <p:cNvSpPr txBox="1"/>
          <p:nvPr/>
        </p:nvSpPr>
        <p:spPr>
          <a:xfrm>
            <a:off x="556369" y="1676691"/>
            <a:ext cx="1107926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/>
              <a:t> В ходе лабораторной работы был проведён полный анализ исполняемого файла. С помощью графика энтропии установлено значение 3,78, что говорит об отсутствии шифрования. Средствами </a:t>
            </a:r>
            <a:r>
              <a:rPr lang="en-US" sz="2600" dirty="0"/>
              <a:t>Binary Ninja</a:t>
            </a:r>
            <a:r>
              <a:rPr lang="ru-RU" sz="2600" dirty="0"/>
              <a:t> и </a:t>
            </a:r>
            <a:r>
              <a:rPr lang="ru-RU" sz="2600" dirty="0" err="1"/>
              <a:t>Cutter</a:t>
            </a:r>
            <a:r>
              <a:rPr lang="ru-RU" sz="2600" dirty="0"/>
              <a:t> выполнен обратный инжиниринг: восстановлен псевдокод, выявлены стандартные потоки ввода-вывода C++, формулы вычисления дискриминанта и корней квадратного уравнения, условные операторы для трёх случаев - D &gt; 0, D = 0 и D &lt; 0. На основе графа программы и </a:t>
            </a:r>
            <a:r>
              <a:rPr lang="ru-RU" sz="2600" dirty="0" err="1"/>
              <a:t>Hex</a:t>
            </a:r>
            <a:r>
              <a:rPr lang="ru-RU" sz="2600" dirty="0"/>
              <a:t>-представления подтверждена структура алгоритма. Получены практические навыки работы с дизассемблерным и декомпилированным кодом, позволяющие анализировать EXE-файлы без доступа к исходному коду.</a:t>
            </a:r>
          </a:p>
        </p:txBody>
      </p:sp>
      <p:pic>
        <p:nvPicPr>
          <p:cNvPr id="6" name="Рисунок 5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255225-BB9F-978F-52E2-4B5652752A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789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8BF6D-6408-DAA1-77B5-AB0FF7354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0BDBB1D-238A-45D9-630F-4E4B6F23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350" y="3187267"/>
            <a:ext cx="3543300" cy="483466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EC9229-D156-AF9D-613F-70E20556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20</a:t>
            </a:fld>
            <a:endParaRPr lang="ru-RU"/>
          </a:p>
        </p:txBody>
      </p:sp>
      <p:pic>
        <p:nvPicPr>
          <p:cNvPr id="4" name="Рисунок 3" descr="Изображение выглядит как символ, Шрифт, логотип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6F95CCD-4237-E6E7-3C5B-26C3688C1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784" y="0"/>
            <a:ext cx="3877216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022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1041</TotalTime>
  <Words>676</Words>
  <Application>Microsoft Office PowerPoint</Application>
  <PresentationFormat>Широкоэкранный</PresentationFormat>
  <Paragraphs>59</Paragraphs>
  <Slides>20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Times New Roman</vt:lpstr>
      <vt:lpstr>Тема Office</vt:lpstr>
      <vt:lpstr>Презентация PowerPoint</vt:lpstr>
      <vt:lpstr>ОГЛАВЛЕНИЕ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Вероника Зверь</dc:creator>
  <cp:lastModifiedBy>Буланый Сергей Евгеньевич</cp:lastModifiedBy>
  <cp:revision>93</cp:revision>
  <dcterms:created xsi:type="dcterms:W3CDTF">2026-02-11T19:46:24Z</dcterms:created>
  <dcterms:modified xsi:type="dcterms:W3CDTF">2026-04-29T13:33:42Z</dcterms:modified>
</cp:coreProperties>
</file>