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6"/>
  </p:notesMasterIdLst>
  <p:sldIdLst>
    <p:sldId id="272" r:id="rId2"/>
    <p:sldId id="289" r:id="rId3"/>
    <p:sldId id="270" r:id="rId4"/>
    <p:sldId id="271" r:id="rId5"/>
    <p:sldId id="284" r:id="rId6"/>
    <p:sldId id="258" r:id="rId7"/>
    <p:sldId id="281" r:id="rId8"/>
    <p:sldId id="285" r:id="rId9"/>
    <p:sldId id="282" r:id="rId10"/>
    <p:sldId id="283" r:id="rId11"/>
    <p:sldId id="286" r:id="rId12"/>
    <p:sldId id="264" r:id="rId13"/>
    <p:sldId id="288" r:id="rId14"/>
    <p:sldId id="277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4D9B3590-2C19-4E75-8DCF-5468506AA81C}">
          <p14:sldIdLst>
            <p14:sldId id="272"/>
          </p14:sldIdLst>
        </p14:section>
        <p14:section name="Раздел оглавления" id="{0096843F-972B-4EA4-B62C-46157E0F615A}">
          <p14:sldIdLst>
            <p14:sldId id="289"/>
          </p14:sldIdLst>
        </p14:section>
        <p14:section name="Конвертация в Python" id="{CEA17E43-B27D-4B7A-A75B-E85AC50E6800}">
          <p14:sldIdLst>
            <p14:sldId id="270"/>
          </p14:sldIdLst>
        </p14:section>
        <p14:section name="Конечный текст на языке Python" id="{E72C0976-3B6C-48E0-A193-C246E5F47A3F}">
          <p14:sldIdLst>
            <p14:sldId id="271"/>
          </p14:sldIdLst>
        </p14:section>
        <p14:section name="Binary Ninja — анализ EXE-файла" id="{8F9DF4E6-E931-44B0-BA71-AC89A7BEB192}">
          <p14:sldIdLst>
            <p14:sldId id="284"/>
          </p14:sldIdLst>
        </p14:section>
        <p14:section name="Binary ninja Псевдокод main" id="{4FA59BA5-3BF9-4946-824F-C13D8A14BAEC}">
          <p14:sldIdLst>
            <p14:sldId id="258"/>
          </p14:sldIdLst>
        </p14:section>
        <p14:section name="Binary ninja main на ассемблер " id="{16F68C07-F89D-463C-89B5-BE5B6CCFB728}">
          <p14:sldIdLst>
            <p14:sldId id="281"/>
          </p14:sldIdLst>
        </p14:section>
        <p14:section name="Binary Ninja — псевдокод и ассемблер" id="{4D6E7CE7-5C60-4698-87E1-E1DDF29AEE5F}">
          <p14:sldIdLst>
            <p14:sldId id="285"/>
          </p14:sldIdLst>
        </p14:section>
        <p14:section name="Сutter Псевдокод main" id="{16108128-DB46-40B0-A46D-A9FBB98565A5}">
          <p14:sldIdLst>
            <p14:sldId id="282"/>
          </p14:sldIdLst>
        </p14:section>
        <p14:section name="Сutter main на ассемблер " id="{527DC483-5063-46F2-8A0A-E2E2290D69FE}">
          <p14:sldIdLst>
            <p14:sldId id="283"/>
          </p14:sldIdLst>
        </p14:section>
        <p14:section name="Cutter - ассемблер и декомпилятор" id="{9FA2B8B4-8AE7-4338-8D67-E4CA913256CC}">
          <p14:sldIdLst>
            <p14:sldId id="286"/>
          </p14:sldIdLst>
        </p14:section>
        <p14:section name="010 Editor " id="{B7E0C9F7-0323-4E4F-82E9-C3B953A5A0D8}">
          <p14:sldIdLst>
            <p14:sldId id="264"/>
          </p14:sldIdLst>
        </p14:section>
        <p14:section name="Анализ Binary Ninja &amp;Cutter " id="{397740EB-353D-49F3-BA84-15B071E5ADE7}">
          <p14:sldIdLst>
            <p14:sldId id="288"/>
          </p14:sldIdLst>
        </p14:section>
        <p14:section name="Выводы" id="{2BB18B2B-CB60-4234-81B6-1819D65EC58B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878" autoAdjust="0"/>
    <p:restoredTop sz="94667"/>
  </p:normalViewPr>
  <p:slideViewPr>
    <p:cSldViewPr snapToGrid="0">
      <p:cViewPr varScale="1">
        <p:scale>
          <a:sx n="75" d="100"/>
          <a:sy n="75" d="100"/>
        </p:scale>
        <p:origin x="17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BAFB4-5510-574D-86CE-C19EF2B42204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F4B505-333F-5443-AB4B-55FDA2D7E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3805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1F6830-4DAA-A53A-DBC6-2B31DE0E7D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C698357-FF67-D643-86B0-01A69803FE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607506-713B-B73C-58AB-553822FA9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E282E-8406-E949-9BDA-3161F01F6A39}" type="datetime1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839FC2-6E41-3096-3ECF-A9B51FCB0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FD556B-A598-C36F-18D5-80A0E5DB0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9459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0FD57A-E021-CDCC-DCFA-DA8E2C5F7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F4B259-9F37-4FD4-5800-CBEABF660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C19F06-4037-68E1-5067-15B079DB9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22137-869F-124E-AD6A-013DA00A3F47}" type="datetime1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002A7D-E410-4632-FAF9-D3ECE5E20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823628-5D46-3EFE-0018-AB894A010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1096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0DAA66-C678-D260-4C68-44F55E7E3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9798D5-7DBD-9406-876F-2FC6C5E5D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780257-FA24-8454-9A13-57E9FB40E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8E1F7-411F-FC40-89DE-55DB480AAE63}" type="datetime1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12C31C-5FAC-7AB9-BBB1-19658DFD4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6DED08-919A-A0FB-2DF1-50DBC6D79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971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D3BBE5-A9B2-3028-C298-5B6DD673B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FFC7B8-C1F1-6CDA-4B13-2D2EFB7674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4B741E1-0B52-62AA-4F26-ED201C559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477B028-EDC7-28EE-38A2-666B6EE9D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FFE0A-851A-A244-B1D2-4B5649C57CA6}" type="datetime1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E809D0C-464E-EE7F-74E2-DB993B4DA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84A6677-7B78-C3F5-E787-8B4877D5B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8689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850D4E-2853-0433-2B86-8A126F776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C69172-07D5-E59B-3B31-6E2E408AC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282E44E-F136-599B-50FC-8C56C5B7EA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64F49DE-D3F8-9D4C-1A5B-9D631E5073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ACEABCD-EF84-9281-658B-6E8F6FCB12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8832499-F686-FB66-805E-F01EBDFF6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B008E-4B1B-C548-8956-97711596B574}" type="datetime1">
              <a:rPr lang="ru-RU" smtClean="0"/>
              <a:t>02.04.2026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7859144-F347-1389-67C7-196A2D08D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9CA24E7-C493-0D13-8EB8-5316A0C9C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56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18A55B-FC8F-6E80-C0E4-4D2BB05AD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1564A2B-CDAA-0FE9-E96B-AF9A2DE69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67300-804D-CF49-9DB0-3A0D159F127D}" type="datetime1">
              <a:rPr lang="ru-RU" smtClean="0"/>
              <a:t>02.04.2026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8BBBE46-0F13-B069-37B2-D58D93E3F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EF1068D-AE32-03BE-AB87-4C6DEC39F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333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CA8F72A-8F68-FF67-131F-CB8B09000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46229-FC3F-EC48-AC78-1679AA1FEDCB}" type="datetime1">
              <a:rPr lang="ru-RU" smtClean="0"/>
              <a:t>02.04.2026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956251C-AFCB-66B3-8817-ACA349F49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6F43C3D-47A5-1867-CE7B-78179873F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9458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905FFA-1106-96BD-A738-F80DE3F5D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1589BE-88C8-02CE-C58C-27AC5AEA9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F75806C-D898-4AB7-4FD5-6D22460474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EFCD970-19C0-8163-1555-20B899A67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06BD9-4DD2-7A45-84E4-A9AA7317B60B}" type="datetime1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94332D1-5B9B-DE3A-E011-AF0AD5427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16B4920-2830-28D1-04C6-297043831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4418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176431-18F5-8C40-9DE5-1752C8F70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41DD190-4D29-46B6-DF14-A85DAACB6D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151D86D-96CE-1EE4-4DCB-9F966C1F0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F63B7FC-18F8-9BB0-A127-64E78BBB3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97B00-35E3-9F48-AF56-B6CA106F8B38}" type="datetime1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0D92EB7-2000-9703-B902-6993319D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23BCA5-38F8-94C3-D41E-EA8339056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7674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EB823-1686-02E6-3533-BB6B9A7CE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B4F57B2-4FAF-2ED2-2663-616B232617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3CA1A4-847D-C9EF-9C6E-8437B24CA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0DC4-518B-6845-83BC-0FF75AC396BA}" type="datetime1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5DE0A0-EBDC-C10D-E20D-F553F6D5D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6D9EB4-C94B-0F1A-D5BA-25D60CE27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4255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0834C73-D577-6C37-17F7-1C896C080E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E7BBF50-B994-1438-5C0A-B75A0C5EF8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22F52E-FD68-59F5-5777-31F247EA6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A9B2A-5F66-2444-8492-DF1C4D505A41}" type="datetime1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127BC8-5F91-4CE6-744A-339CC6793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7D14CD-FE2B-8CB9-B7E0-BBED06346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80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89051E-13DB-963A-72FB-8C3727A1D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70B3DA-A627-3D34-EB6E-DB5D02D04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F7BFC9-D89C-A681-7B02-6E40D014DA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D7C91E-D92D-154E-A5B5-4C0C70C715C8}" type="datetime1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C081CF-A378-17D6-D3E4-74A8C7D29F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91AF09-AB47-3F0E-4B0D-37B2E5F70D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376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slide" Target="slide7.xml"/><Relationship Id="rId3" Type="http://schemas.openxmlformats.org/officeDocument/2006/relationships/image" Target="../media/image2.png"/><Relationship Id="rId21" Type="http://schemas.openxmlformats.org/officeDocument/2006/relationships/slide" Target="slide10.xml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slide" Target="slide6.xml"/><Relationship Id="rId25" Type="http://schemas.openxmlformats.org/officeDocument/2006/relationships/slide" Target="slide14.xml"/><Relationship Id="rId2" Type="http://schemas.openxmlformats.org/officeDocument/2006/relationships/image" Target="../media/image1.png"/><Relationship Id="rId16" Type="http://schemas.openxmlformats.org/officeDocument/2006/relationships/slide" Target="slide5.xml"/><Relationship Id="rId20" Type="http://schemas.openxmlformats.org/officeDocument/2006/relationships/slide" Target="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slide" Target="slide13.xml"/><Relationship Id="rId5" Type="http://schemas.openxmlformats.org/officeDocument/2006/relationships/image" Target="../media/image4.png"/><Relationship Id="rId15" Type="http://schemas.openxmlformats.org/officeDocument/2006/relationships/slide" Target="slide4.xml"/><Relationship Id="rId23" Type="http://schemas.openxmlformats.org/officeDocument/2006/relationships/slide" Target="slide12.xml"/><Relationship Id="rId10" Type="http://schemas.openxmlformats.org/officeDocument/2006/relationships/image" Target="../media/image9.png"/><Relationship Id="rId19" Type="http://schemas.openxmlformats.org/officeDocument/2006/relationships/slide" Target="slide8.xml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slide" Target="slide3.xml"/><Relationship Id="rId22" Type="http://schemas.openxmlformats.org/officeDocument/2006/relationships/slide" Target="slide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D6440-1606-BC69-E2AF-86A4ECFC06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Отчёт по лабораторной работе №4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A4968-9A8F-F562-BEBD-29228932D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760662"/>
          </a:xfrm>
        </p:spPr>
        <p:txBody>
          <a:bodyPr>
            <a:normAutofit/>
          </a:bodyPr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Выполнили: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Буланый С. Е.</a:t>
            </a:r>
          </a:p>
          <a:p>
            <a:pPr algn="r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Горковец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А. С.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Проверили: 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Профессор, д.т.н. Сидоренко Валентина Генадьевна 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доцент, к.т.н. Сафронов Антон Игоревич</a:t>
            </a:r>
          </a:p>
        </p:txBody>
      </p:sp>
    </p:spTree>
    <p:extLst>
      <p:ext uri="{BB962C8B-B14F-4D97-AF65-F5344CB8AC3E}">
        <p14:creationId xmlns:p14="http://schemas.microsoft.com/office/powerpoint/2010/main" val="704638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0A4DCB-33BC-4A87-94FE-F14D66BA5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ОГЛАВЛЕНИЕ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8F01311-E575-458C-8E21-FD29DB589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2</a:t>
            </a:fld>
            <a:endParaRPr lang="ru-RU"/>
          </a:p>
        </p:txBody>
      </p:sp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6" name="Интерактивное оглавление 5">
                <a:extLst>
                  <a:ext uri="{FF2B5EF4-FFF2-40B4-BE49-F238E27FC236}">
                    <a16:creationId xmlns:a16="http://schemas.microsoft.com/office/drawing/2014/main" id="{789CE3F5-921D-48B0-A38A-5E2A1C871E4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48745987"/>
                  </p:ext>
                </p:extLst>
              </p:nvPr>
            </p:nvGraphicFramePr>
            <p:xfrm>
              <a:off x="838200" y="1825625"/>
              <a:ext cx="10515600" cy="4351338"/>
            </p:xfrm>
            <a:graphic>
              <a:graphicData uri="http://schemas.microsoft.com/office/powerpoint/2016/summaryzoom">
                <psuz:summaryZm>
                  <psuz:summaryZmObj sectionId="{CEA17E43-B27D-4B7A-A75B-E85AC50E6800}">
                    <psuz:zmPr id="{137C6665-00A8-4BD0-B6BA-8F341EDEAD45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85833" y="130540"/>
                          <a:ext cx="2320713" cy="130540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E72C0976-3B6C-48E0-A193-C246E5F47A3F}">
                    <psuz:zmPr id="{EA1DD913-C5AD-49A1-9C24-A9E36A4D96EB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2893573" y="130540"/>
                          <a:ext cx="2320713" cy="130540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8F9DF4E6-E931-44B0-BA71-AC89A7BEB192}">
                    <psuz:zmPr id="{7943C1AB-E3C1-471E-B6FA-7CB3B0406EB2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5301313" y="130540"/>
                          <a:ext cx="2320713" cy="130540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4FA59BA5-3BF9-4946-824F-C13D8A14BAEC}">
                    <psuz:zmPr id="{57BD39BE-751D-40D4-A48D-A474CFA7DE02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7709053" y="130540"/>
                          <a:ext cx="2320713" cy="130540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16F68C07-F89D-463C-89B5-BE5B6CCFB728}">
                    <psuz:zmPr id="{7C2CC4BF-FEB9-4BDB-BF6B-E49DF0071683}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85833" y="1522968"/>
                          <a:ext cx="2320713" cy="130540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4D6E7CE7-5C60-4698-87E1-E1DDF29AEE5F}">
                    <psuz:zmPr id="{2A6D3626-37F1-4327-9834-F18A8C58C9DC}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2893573" y="1522968"/>
                          <a:ext cx="2320713" cy="130540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16108128-DB46-40B0-A46D-A9FBB98565A5}">
                    <psuz:zmPr id="{DAA128C2-B485-4CD8-80EC-DC382D8E5AD3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5301313" y="1522968"/>
                          <a:ext cx="2320713" cy="130540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527DC483-5063-46F2-8A0A-E2E2290D69FE}">
                    <psuz:zmPr id="{A29EAFB2-37EC-4093-99F4-9A4FA23245CF}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7709053" y="1522968"/>
                          <a:ext cx="2320713" cy="130540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9FA2B8B4-8AE7-4338-8D67-E4CA913256CC}">
                    <psuz:zmPr id="{8C0634AE-F2BC-465A-9828-7B76DE474D37}" transitionDur="100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85833" y="2915396"/>
                          <a:ext cx="2320713" cy="130540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B7E0C9F7-0323-4E4F-82E9-C3B953A5A0D8}">
                    <psuz:zmPr id="{BCACCBCB-C515-4B7F-B02C-95C4542A7315}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2893573" y="2915396"/>
                          <a:ext cx="2320713" cy="130540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397740EB-353D-49F3-BA84-15B071E5ADE7}">
                    <psuz:zmPr id="{533ECF59-1A10-40E7-BB4C-DE9B129D065A}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5301313" y="2915396"/>
                          <a:ext cx="2320713" cy="130540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2BB18B2B-CB60-4234-81B6-1819D65EC58B}">
                    <psuz:zmPr id="{66AED538-B7B8-4706-9BBB-487807DCFE86}" transitionDur="1000">
                      <p166:blipFill xmlns:p166="http://schemas.microsoft.com/office/powerpoint/2016/6/main">
                        <a:blip r:embed="rId1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7709053" y="2915396"/>
                          <a:ext cx="2320713" cy="130540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gridLayout/>
                </psuz:summaryZm>
              </a:graphicData>
            </a:graphic>
          </p:graphicFrame>
        </mc:Choice>
        <mc:Fallback>
          <p:grpSp>
            <p:nvGrpSpPr>
              <p:cNvPr id="6" name="Интерактивное оглавление 5">
                <a:extLst>
                  <a:ext uri="{FF2B5EF4-FFF2-40B4-BE49-F238E27FC236}">
                    <a16:creationId xmlns:a16="http://schemas.microsoft.com/office/drawing/2014/main" id="{789CE3F5-921D-48B0-A38A-5E2A1C871E42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>
                <a:off x="838200" y="1825625"/>
                <a:ext cx="10515600" cy="4351338"/>
                <a:chOff x="838200" y="1825625"/>
                <a:chExt cx="10515600" cy="4351338"/>
              </a:xfrm>
            </p:grpSpPr>
            <p:pic>
              <p:nvPicPr>
                <p:cNvPr id="3" name="Рисунок 3">
                  <a:hlinkClick r:id="rId14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324033" y="1956165"/>
                  <a:ext cx="2320713" cy="1305401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5" name="Рисунок 5">
                  <a:hlinkClick r:id="rId15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731773" y="1956165"/>
                  <a:ext cx="2320713" cy="1305401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7" name="Рисунок 7">
                  <a:hlinkClick r:id="rId16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139513" y="1956165"/>
                  <a:ext cx="2320713" cy="1305401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8" name="Рисунок 8">
                  <a:hlinkClick r:id="rId17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547253" y="1956165"/>
                  <a:ext cx="2320713" cy="1305401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9" name="Рисунок 9">
                  <a:hlinkClick r:id="rId18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324033" y="3348593"/>
                  <a:ext cx="2320713" cy="1305401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0" name="Рисунок 10">
                  <a:hlinkClick r:id="rId19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731773" y="3348593"/>
                  <a:ext cx="2320713" cy="1305401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1" name="Рисунок 11">
                  <a:hlinkClick r:id="rId20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139513" y="3348593"/>
                  <a:ext cx="2320713" cy="1305401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2" name="Рисунок 12">
                  <a:hlinkClick r:id="rId21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547253" y="3348593"/>
                  <a:ext cx="2320713" cy="1305401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3" name="Рисунок 13">
                  <a:hlinkClick r:id="rId22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324033" y="4741021"/>
                  <a:ext cx="2320713" cy="1305401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4" name="Рисунок 14">
                  <a:hlinkClick r:id="rId23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731773" y="4741021"/>
                  <a:ext cx="2320713" cy="1305401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5" name="Рисунок 15">
                  <a:hlinkClick r:id="rId24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139513" y="4741021"/>
                  <a:ext cx="2320713" cy="1305401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6" name="Рисунок 16">
                  <a:hlinkClick r:id="rId25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547253" y="4741021"/>
                  <a:ext cx="2320713" cy="1305401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p:grpSp>
        </mc:Fallback>
      </mc:AlternateContent>
    </p:spTree>
    <p:extLst>
      <p:ext uri="{BB962C8B-B14F-4D97-AF65-F5344CB8AC3E}">
        <p14:creationId xmlns:p14="http://schemas.microsoft.com/office/powerpoint/2010/main" val="3852850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1585769-B3AA-876A-EE51-AC18D3A32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6914"/>
            <a:ext cx="10515600" cy="4740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Мы взяли программу на языке C, которая решает заданную функцию: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конвертации программного обеспечения в язык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выполнялось с использованием искусственного интеллекта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Версия питона использовалась 3.1.7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68892F5-261E-EFA2-E27B-9FF36F066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552E4423-0B3B-C26A-23A8-9CAE68A76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960" y="111351"/>
            <a:ext cx="9855200" cy="1325563"/>
          </a:xfrm>
        </p:spPr>
        <p:txBody>
          <a:bodyPr/>
          <a:lstStyle/>
          <a:p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Конвертация в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 descr="Изображение выглядит как Шрифт, рукописный текст, текст, каллиграф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F07FA78-C1F0-80C1-9192-CFA1080EE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" y="2502505"/>
            <a:ext cx="4413839" cy="130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853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E492FB-6C76-143E-FCB2-C2A952AF0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Конечный</a:t>
            </a:r>
            <a:r>
              <a:rPr lang="en-US" sz="38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kern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текст</a:t>
            </a:r>
            <a:r>
              <a:rPr lang="en-US" sz="38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языке Python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07D041-9EA8-C025-E595-E4A70F620EE4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После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применения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правок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был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итоговый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успешно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компилируемый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листинг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программы на языке Python.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B4CDF6-B739-3BAB-8091-588688927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647" y="640080"/>
            <a:ext cx="6761017" cy="5577840"/>
          </a:xfrm>
          <a:prstGeom prst="rect">
            <a:avLst/>
          </a:prstGeom>
        </p:spPr>
      </p:pic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DA46F9E5-39EC-6196-1D5E-41BCCE893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E132034-01A0-7847-98A4-B83C6CAD07E4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chemeClr val="tx1">
                  <a:tint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240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FE5C2-7B51-7D9B-D611-2CA470693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ABEFF3-5B53-C6E6-B394-859A55442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" y="136525"/>
            <a:ext cx="10515600" cy="1325563"/>
          </a:xfrm>
        </p:spPr>
        <p:txBody>
          <a:bodyPr/>
          <a:lstStyle/>
          <a:p>
            <a:pPr latinLnBrk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Ninja —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2619E4-F7FE-B8FE-1CCB-32F2A0356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3E528BE-57BA-5DEB-75FC-64CBF5FCE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771" y="1178839"/>
            <a:ext cx="7430269" cy="51483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19A960-D742-A854-B212-633BE60A9F44}"/>
              </a:ext>
            </a:extLst>
          </p:cNvPr>
          <p:cNvSpPr txBox="1"/>
          <p:nvPr/>
        </p:nvSpPr>
        <p:spPr>
          <a:xfrm>
            <a:off x="186267" y="1873568"/>
            <a:ext cx="38608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 скриншоте представлен список функций, обнаруженных дизассемблером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Binary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Ninja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исполняемом файле. Все функции имеют автоматически сгенерированные имена вида 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_... с указанием адресов в памяти. Это характерно для EXE-файлов, скомпилированных из Python с помощью PyInstaller, где пользовательский код скрыт внутри загрузчика.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8794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D57213-D8A6-2D11-9875-87CEF3D17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" y="136525"/>
            <a:ext cx="10515600" cy="1325563"/>
          </a:xfrm>
        </p:spPr>
        <p:txBody>
          <a:bodyPr/>
          <a:lstStyle/>
          <a:p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ninja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Псевдокод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4FA325-BC11-787F-FA47-F100B258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23EAA78-52B0-D2EE-8C2A-70DB5A150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691" y="1309047"/>
            <a:ext cx="7646844" cy="48478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A58BC3-E4F7-1C36-D462-EF0C2DA58228}"/>
              </a:ext>
            </a:extLst>
          </p:cNvPr>
          <p:cNvSpPr txBox="1"/>
          <p:nvPr/>
        </p:nvSpPr>
        <p:spPr>
          <a:xfrm>
            <a:off x="213438" y="1547359"/>
            <a:ext cx="349496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сборке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.exe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 использовался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pyinstaller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который работает как архиватор. Мы взяли функцию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main.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Такой код характерен для загрузчика PyInstaller, который распаковывает и извлекает Python-байт-код из архива. Так же отображаются перекрестные ссылки, показывающие связи между функциями и данными. Отсутствуют инструкции, соответствующие алгоритму вычисления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кусочной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функции.</a:t>
            </a:r>
          </a:p>
        </p:txBody>
      </p:sp>
    </p:spTree>
    <p:extLst>
      <p:ext uri="{BB962C8B-B14F-4D97-AF65-F5344CB8AC3E}">
        <p14:creationId xmlns:p14="http://schemas.microsoft.com/office/powerpoint/2010/main" val="4286833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1F8C1-730F-7A1B-9B0C-4D71D2D3F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D3AC72-1727-1794-25FA-14E143769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" y="136525"/>
            <a:ext cx="10515600" cy="1325563"/>
          </a:xfrm>
        </p:spPr>
        <p:txBody>
          <a:bodyPr/>
          <a:lstStyle/>
          <a:p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ninja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ассемблер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1354EE-1FB0-CA79-A7D1-EBF1311B2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7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58063F-4158-3A38-7DBA-502781494E34}"/>
              </a:ext>
            </a:extLst>
          </p:cNvPr>
          <p:cNvSpPr txBox="1"/>
          <p:nvPr/>
        </p:nvSpPr>
        <p:spPr>
          <a:xfrm>
            <a:off x="323512" y="1462088"/>
            <a:ext cx="30784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скриншоте представлен ассемблерный код функции main в дизассемблере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Binary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Ninja.Отсутствуют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инструкции, соответствующие вычислению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кусочной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функции (математические операции, условные переходы). Вместо этого виден типичный для PyInstaller код загрузчика, который передаёт управление функциям распаковки и инициализации среды выполнения Python.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8B561DB-0D91-7448-821D-5258EB36E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623" y="1251115"/>
            <a:ext cx="7337385" cy="510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500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C025-D8DF-3118-F7E8-FBE382247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51C2AB-B192-AAF0-8725-A03969AD6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" y="136525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Ninja —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псевдокод и ассемблер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23A40E-416D-DEA1-EFE6-2E3177BE1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8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D60023D-D31B-9FE4-0028-939CABC15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806" y="1141404"/>
            <a:ext cx="7478930" cy="50649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8CAC6D-3EE6-BF32-663E-D100E989F3D4}"/>
              </a:ext>
            </a:extLst>
          </p:cNvPr>
          <p:cNvSpPr txBox="1"/>
          <p:nvPr/>
        </p:nvSpPr>
        <p:spPr>
          <a:xfrm>
            <a:off x="220133" y="2381241"/>
            <a:ext cx="325120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скриншоте представлена функция sub_1400040e0, на которую из main передаётся управление. Это одна из ключевых функций загрузчика PyInstaller.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 содержит системные вызовы и инициализацию среды выполнения.</a:t>
            </a:r>
          </a:p>
        </p:txBody>
      </p:sp>
    </p:spTree>
    <p:extLst>
      <p:ext uri="{BB962C8B-B14F-4D97-AF65-F5344CB8AC3E}">
        <p14:creationId xmlns:p14="http://schemas.microsoft.com/office/powerpoint/2010/main" val="3820138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60FB5-F409-FCD8-EA3E-F296AFC76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4DC0D9-512F-DF4A-E4E4-26E1C0404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" y="136525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utter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Псевдокод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FF2767-00FC-0D3F-3F9B-CF3405FCF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9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2A0E70-70B5-5B8C-AC23-8C5658D62A78}"/>
              </a:ext>
            </a:extLst>
          </p:cNvPr>
          <p:cNvSpPr txBox="1"/>
          <p:nvPr/>
        </p:nvSpPr>
        <p:spPr>
          <a:xfrm>
            <a:off x="331971" y="1767840"/>
            <a:ext cx="245752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скриншоте представлен декомпилированный код в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Cutter.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сборке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.exe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 использовался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pyinstaller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который работает как архиватор. Мы взяли функцию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main.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скиншоте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видно, что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 содержит упакованный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байт-код.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2A244F2-79F9-DF7B-02BF-C3CE5ABC56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51" t="8512" r="24247" b="10182"/>
          <a:stretch/>
        </p:blipFill>
        <p:spPr>
          <a:xfrm>
            <a:off x="3577702" y="976778"/>
            <a:ext cx="7864876" cy="5744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694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17949-F7D8-C55E-5D0A-3DACE187B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D9E06C-D3A4-4684-B0E5-298EA2DAE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" y="136525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utter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ассемблер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E1889A-3792-4877-6F1F-74433B167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10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5564B5-FDB7-91C1-3B91-5FC4B5F396F3}"/>
              </a:ext>
            </a:extLst>
          </p:cNvPr>
          <p:cNvSpPr txBox="1"/>
          <p:nvPr/>
        </p:nvSpPr>
        <p:spPr>
          <a:xfrm>
            <a:off x="310950" y="2177743"/>
            <a:ext cx="260041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скриншоте показан ассемблерный код в дизассемблере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Cutter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Код содержит множество однотипных инструкций mov и 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характерных для начальной инициализации памяти загрузчиком.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39AE36D-17F3-79C5-1237-C024242868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143" t="9607" r="15225" b="6632"/>
          <a:stretch/>
        </p:blipFill>
        <p:spPr>
          <a:xfrm>
            <a:off x="3657599" y="1142354"/>
            <a:ext cx="7927760" cy="5520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052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291A7-13AE-3D5D-A338-D4BC668FA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A26D75-B060-AE1B-BBFD-858F9AD15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" y="136525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Cutter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ассемблер и декомпилятор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9C7CD6-6589-E998-F6E2-5D51C166C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11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800E9E-561B-A21D-CB44-D323F6B93088}"/>
              </a:ext>
            </a:extLst>
          </p:cNvPr>
          <p:cNvSpPr txBox="1"/>
          <p:nvPr/>
        </p:nvSpPr>
        <p:spPr>
          <a:xfrm>
            <a:off x="331971" y="1767840"/>
            <a:ext cx="2600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1A6C2DB-0D87-BC21-8BEA-F4229CB4D5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138" t="13963" r="24212" b="4124"/>
          <a:stretch/>
        </p:blipFill>
        <p:spPr>
          <a:xfrm>
            <a:off x="3624606" y="1108448"/>
            <a:ext cx="7729194" cy="56015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00B482-B542-E63A-3EE9-A0EC44A527C8}"/>
              </a:ext>
            </a:extLst>
          </p:cNvPr>
          <p:cNvSpPr txBox="1"/>
          <p:nvPr/>
        </p:nvSpPr>
        <p:spPr>
          <a:xfrm>
            <a:off x="247888" y="1952506"/>
            <a:ext cx="268449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 скриншоте представлен шестнадцатеричный дамп исполняемого файла в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Cutter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В текстовом представлении видны повторяющиеся символы и участки с нулевыми значениями. Такой дамп позволяет анализировать структуру файла на низком уровне.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601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7B4EF9-60E5-B96D-566F-F260B089E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600" y="365125"/>
            <a:ext cx="10864200" cy="678875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010 Editor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398A95-DF14-1125-66AD-28878C899E7C}"/>
              </a:ext>
            </a:extLst>
          </p:cNvPr>
          <p:cNvSpPr txBox="1"/>
          <p:nvPr/>
        </p:nvSpPr>
        <p:spPr>
          <a:xfrm>
            <a:off x="489600" y="1110010"/>
            <a:ext cx="4267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.text –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содержит машинный код программы,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.data –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изменяемые данные,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rdata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константы и строки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63A10B32-F88A-44BF-E482-B46017AC3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12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8E05478-0880-95AC-B7B7-F185AB759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998" y="328642"/>
            <a:ext cx="4851150" cy="292157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B9F9A33-B6F9-790C-2A69-D17B1CA66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732063"/>
            <a:ext cx="5524670" cy="119915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4C826FB-D136-3978-6E99-F883690B0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269" y="4079239"/>
            <a:ext cx="5529731" cy="198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863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756BF23-9CF1-4394-A754-CAFFBA2DE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13</a:t>
            </a:fld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30631845-936C-45CE-BC0B-FE1A7995B5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183737"/>
              </p:ext>
            </p:extLst>
          </p:nvPr>
        </p:nvGraphicFramePr>
        <p:xfrm>
          <a:off x="643466" y="1364487"/>
          <a:ext cx="10864199" cy="49918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93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4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5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4028">
                <a:tc>
                  <a:txBody>
                    <a:bodyPr/>
                    <a:lstStyle>
                      <a:defPPr>
                        <a:defRPr lang="ru-RU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Параметр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78190" marT="48869" marB="48869" anchor="ctr"/>
                </a:tc>
                <a:tc>
                  <a:txBody>
                    <a:bodyPr/>
                    <a:lstStyle>
                      <a:defPPr>
                        <a:defRPr lang="ru-RU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</a:t>
                      </a:r>
                      <a:r>
                        <a:rPr lang="ru-RU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Ninja</a:t>
                      </a:r>
                      <a:r>
                        <a:rPr lang="ru-RU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190" marR="78190" marT="48869" marB="48869" anchor="ctr"/>
                </a:tc>
                <a:tc>
                  <a:txBody>
                    <a:bodyPr/>
                    <a:lstStyle>
                      <a:defPPr>
                        <a:defRPr lang="ru-RU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Cutter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190" marR="78190" marT="48869" marB="48869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028">
                <a:tc>
                  <a:txBody>
                    <a:bodyPr/>
                    <a:lstStyle>
                      <a:defPPr>
                        <a:defRPr lang="ru-RU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 строк в функции main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78190" marT="48869" marB="48869" anchor="ctr"/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строк (ассемблер)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190" marR="78190" marT="48869" marB="48869" anchor="ctr"/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строки (ассемблер)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190" marR="0" marT="48869" marB="4886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028">
                <a:tc>
                  <a:txBody>
                    <a:bodyPr/>
                    <a:lstStyle>
                      <a:defPPr>
                        <a:defRPr lang="ru-RU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 машинных инструкций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78190" marT="48869" marB="48869" anchor="ctr"/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инструкций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190" marR="78190" marT="48869" marB="48869" anchor="ctr"/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инструкции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190" marR="0" marT="48869" marB="4886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028">
                <a:tc>
                  <a:txBody>
                    <a:bodyPr/>
                    <a:lstStyle>
                      <a:defPPr>
                        <a:defRPr lang="ru-RU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Детализация анализа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78190" marT="48869" marB="48869" anchor="ctr"/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190" marR="78190" marT="48869" marB="48869" anchor="ctr"/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190" marR="0" marT="48869" marB="4886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028">
                <a:tc>
                  <a:txBody>
                    <a:bodyPr/>
                    <a:lstStyle>
                      <a:defPPr>
                        <a:defRPr lang="ru-RU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 обнаруженных функций в EXE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78190" marT="48869" marB="48869" anchor="ctr"/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708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190" marR="78190" marT="48869" marB="48869" anchor="ctr"/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~700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190" marR="0" marT="48869" marB="48869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028">
                <a:tc>
                  <a:txBody>
                    <a:bodyPr/>
                    <a:lstStyle>
                      <a:defPPr>
                        <a:defRPr lang="ru-RU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декомпиляции (псевдокод)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78190" marT="48869" marB="48869" anchor="ctr"/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Высокое (HLIL)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190" marR="78190" marT="48869" marB="48869" anchor="ctr"/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Среднее (r2dec)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190" marR="0" marT="48869" marB="48869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4028">
                <a:tc>
                  <a:txBody>
                    <a:bodyPr/>
                    <a:lstStyle>
                      <a:defPPr>
                        <a:defRPr lang="ru-RU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Наглядность графа потока управления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78190" marT="48869" marB="48869" anchor="ctr"/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190" marR="78190" marT="48869" marB="48869" anchor="ctr"/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190" marR="0" marT="48869" marB="48869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4028">
                <a:tc>
                  <a:txBody>
                    <a:bodyPr/>
                    <a:lstStyle>
                      <a:defPPr>
                        <a:defRPr lang="ru-RU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Детализация hex-дампа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78190" marT="48869" marB="48869" anchor="ctr"/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Низкая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190" marR="78190" marT="48869" marB="48869" anchor="ctr"/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190" marR="0" marT="48869" marB="48869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4028">
                <a:tc>
                  <a:txBody>
                    <a:bodyPr/>
                    <a:lstStyle>
                      <a:defPPr>
                        <a:defRPr lang="ru-RU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Лицензия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78190" marT="48869" marB="48869" anchor="ctr"/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Бесплатная (с ограничениями)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190" marR="78190" marT="48869" marB="48869" anchor="ctr"/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Бесплатная (открытый исходный код)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190" marR="0" marT="48869" marB="48869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4028">
                <a:tc>
                  <a:txBody>
                    <a:bodyPr/>
                    <a:lstStyle>
                      <a:defPPr>
                        <a:defRPr lang="ru-RU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Интерфейс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78190" marT="48869" marB="48869" anchor="ctr"/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Современный, интуитивно понятный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190" marR="78190" marT="48869" marB="48869" anchor="ctr"/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Более сложный, требует привыкания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190" marR="0" marT="48869" marB="48869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23529">
                <a:tc>
                  <a:txBody>
                    <a:bodyPr/>
                    <a:lstStyle>
                      <a:defPPr>
                        <a:defRPr lang="ru-RU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Псевдокод (декомпиляция)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78190" marT="48869" marB="48869" anchor="ctr"/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Есть (HLIL), читаемый, C-подобный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190" marR="78190" marT="48869" marB="48869" anchor="ctr"/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Есть (через r2dec), но менее стабильный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190" marR="0" marT="48869" marB="48869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4028">
                <a:tc>
                  <a:txBody>
                    <a:bodyPr/>
                    <a:lstStyle>
                      <a:defPPr>
                        <a:defRPr lang="ru-RU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Ассемблерный код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78190" marT="48869" marB="48869" anchor="ctr"/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Хорошая навигация, подсветка синтаксиса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190" marR="78190" marT="48869" marB="48869" anchor="ctr"/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Детальный, много информации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190" marR="0" marT="48869" marB="48869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4028">
                <a:tc>
                  <a:txBody>
                    <a:bodyPr/>
                    <a:lstStyle>
                      <a:defPPr>
                        <a:defRPr lang="ru-RU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Граф потока управления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78190" marT="48869" marB="48869" anchor="ctr"/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Есть, удобный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190" marR="78190" marT="48869" marB="48869" anchor="ctr"/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Есть, но менее наглядный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190" marR="0" marT="48869" marB="48869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70E73421-3A35-4C65-9CA0-D020FF4D0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600" y="365125"/>
            <a:ext cx="10864200" cy="678875"/>
          </a:xfrm>
        </p:spPr>
        <p:txBody>
          <a:bodyPr>
            <a:no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Binary</a:t>
            </a:r>
            <a:r>
              <a:rPr lang="ru-RU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Ninja</a:t>
            </a:r>
            <a:r>
              <a:rPr 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</a:t>
            </a:r>
            <a:r>
              <a:rPr lang="ru-RU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Cutter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0159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A243D-D83B-FC72-BCED-577224ACA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53449-04A0-2E7B-8E34-41811020A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выполнения лабораторной работы был проведён анализ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программы, преобразованной и упакованной в исполняемый файл формата .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анализе полученного EXE-файла в дизассемблере обнаружен код исходной программы. Это объясняется тем, что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PyInstaller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транслирует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-код в машинный, а не просто упаковывает байт-код вместе с интерпретатором.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на C компилируется непосредственно в машинный код, поэтому её логика в дизассемблере видна сразу. Для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-приложений процесс обратного анализа сложнее из-за дополнительных уровней абстракции (виртуальная машина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упаковка зависимостей).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Таким образом, обратный инжиниринг исполняемых модулей, сформированных из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принципиально осуществим, однако сопряжён с более высокими трудозатратами в сравнении с анализом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нативных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C-приложений, что и определяет их главное различие.</a:t>
            </a:r>
            <a:endParaRPr lang="ru-RU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FA118D6-8476-0CC9-F9BB-E3C3F50B2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38517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694</Words>
  <Application>Microsoft Office PowerPoint</Application>
  <PresentationFormat>Широкоэкранный</PresentationFormat>
  <Paragraphs>98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Times New Roman</vt:lpstr>
      <vt:lpstr>Тема Office</vt:lpstr>
      <vt:lpstr>Отчёт по лабораторной работе №4</vt:lpstr>
      <vt:lpstr>ОГЛАВЛЕНИЕ</vt:lpstr>
      <vt:lpstr>Конвертация в Python</vt:lpstr>
      <vt:lpstr>Конечный текст на языке Python</vt:lpstr>
      <vt:lpstr>Binary Ninja — анализ EXE-файла</vt:lpstr>
      <vt:lpstr>Binary ninja Псевдокод main</vt:lpstr>
      <vt:lpstr>Binary ninja main на ассемблер </vt:lpstr>
      <vt:lpstr>Binary Ninja — псевдокод и ассемблер</vt:lpstr>
      <vt:lpstr>Сutter Псевдокод main</vt:lpstr>
      <vt:lpstr>Сutter main на ассемблер </vt:lpstr>
      <vt:lpstr>Cutter - ассемблер и декомпилятор</vt:lpstr>
      <vt:lpstr>010 Editor </vt:lpstr>
      <vt:lpstr>Анализ Binary Ninja &amp;Cutter 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Отчёт по лабораторной работе №3</dc:title>
  <dc:creator>nbejmel@gmail.com</dc:creator>
  <cp:lastModifiedBy>Буланый Сергей Евгеньевич</cp:lastModifiedBy>
  <cp:revision>29</cp:revision>
  <dcterms:created xsi:type="dcterms:W3CDTF">2026-03-17T18:00:15Z</dcterms:created>
  <dcterms:modified xsi:type="dcterms:W3CDTF">2026-04-02T08:20:53Z</dcterms:modified>
</cp:coreProperties>
</file>