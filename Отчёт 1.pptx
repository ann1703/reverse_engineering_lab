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290" r:id="rId3"/>
    <p:sldId id="293" r:id="rId4"/>
    <p:sldId id="295" r:id="rId5"/>
    <p:sldId id="294" r:id="rId6"/>
    <p:sldId id="257" r:id="rId7"/>
    <p:sldId id="292" r:id="rId8"/>
    <p:sldId id="289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3" r:id="rId26"/>
    <p:sldId id="314" r:id="rId27"/>
    <p:sldId id="315" r:id="rId28"/>
    <p:sldId id="279" r:id="rId29"/>
    <p:sldId id="280" r:id="rId30"/>
    <p:sldId id="275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70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5F127-EF7C-4D16-B460-0CE257C7E17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5BB2A-7750-4F15-B86C-FEB94FE9D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89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87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DC51-E9B1-76F0-DFA6-F7DAED40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C418A8-B723-98E8-3DC6-64F8AA89B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28CB4F-408D-5C06-1282-AEF2781ED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3592D2-5CF2-EB48-2F72-3026CD98D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66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719D-693B-4A77-84DB-9E8C1D23A8C1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227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3134-B3F2-4317-B871-B88FB4A00131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07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88A9-13F1-4F40-8019-093569E6E3EF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72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AA0-6125-4875-A987-6C4FF4B5CE30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38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0800-C1F3-441D-AFE3-704E247D4095}" type="datetime1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12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E1E7-2FCF-4D15-B644-3CE192867603}" type="datetime1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8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D6F9-9522-4E0E-B764-D722A322B6E0}" type="datetime1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29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F34C-B6D8-4D1D-84D8-54213C78C279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160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A17E-64F2-46E8-BAC1-CFD826F028E0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0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815C9-C4A9-460B-9F3D-D5B099F812AA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06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CA59-152E-4437-ADB5-E4AD6E9B3A47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80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24392-178F-4638-9B43-936544BC9B5A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19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зарисовка, диаграмма, Параллельный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434D5A-C08D-EBA0-4253-19400E1E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624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68ABC-F9C9-7674-7AC8-046D01A49FFB}"/>
              </a:ext>
            </a:extLst>
          </p:cNvPr>
          <p:cNvSpPr txBox="1"/>
          <p:nvPr/>
        </p:nvSpPr>
        <p:spPr>
          <a:xfrm>
            <a:off x="706581" y="2126746"/>
            <a:ext cx="482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Сравнение энтропии неупакованного и упакованного файлов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03276-700E-14FF-D019-58105A8A7754}"/>
              </a:ext>
            </a:extLst>
          </p:cNvPr>
          <p:cNvSpPr txBox="1"/>
          <p:nvPr/>
        </p:nvSpPr>
        <p:spPr>
          <a:xfrm>
            <a:off x="626302" y="5086198"/>
            <a:ext cx="51953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Выполнили – студ. Буланый Сергей Евгеньевич, ТКИ-341, студ. Дышлевая Анна Сергеевна, ТКИ-341</a:t>
            </a:r>
          </a:p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Проверили - д. т. н., проф. Сидоренко Валентина Геннадьевна, д. к. т. н. 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50158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D6571-8C8E-94A3-FECD-1B5BCCAAD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99A6E-7689-0B00-C6AE-78C390221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217" y="153468"/>
            <a:ext cx="3484880" cy="675323"/>
          </a:xfrm>
        </p:spPr>
        <p:txBody>
          <a:bodyPr>
            <a:normAutofit/>
          </a:bodyPr>
          <a:lstStyle/>
          <a:p>
            <a:r>
              <a:rPr lang="ru-RU" sz="4000" dirty="0"/>
              <a:t>Что мы делали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F8A057-7B0B-3594-A171-58AD77A76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337" y="1086298"/>
            <a:ext cx="11535503" cy="5265723"/>
          </a:xfrm>
        </p:spPr>
        <p:txBody>
          <a:bodyPr>
            <a:noAutofit/>
          </a:bodyPr>
          <a:lstStyle/>
          <a:p>
            <a:pPr algn="l"/>
            <a:r>
              <a:rPr lang="ru-RU" sz="1700" dirty="0"/>
              <a:t>Мы взяли программу на языке C, которая решает заданную функцию: </a:t>
            </a:r>
          </a:p>
          <a:p>
            <a:pPr algn="l"/>
            <a:endParaRPr lang="ru-RU" sz="1700" dirty="0"/>
          </a:p>
          <a:p>
            <a:pPr algn="l"/>
            <a:endParaRPr lang="ru-RU" sz="1700" dirty="0"/>
          </a:p>
          <a:p>
            <a:pPr algn="l"/>
            <a:r>
              <a:rPr lang="ru-RU" sz="1700" dirty="0"/>
              <a:t>С помощью искусственного интеллекта мы выполнили трансляцию исходного кода с языка C на языки C# и Python. Далее мы провели анализ исходных файлов. Каждый файл был открыт в HEX-редакторе «010 Editor»: изучена структура, построены гистограммы распределения байтов и энтропии каждого файла.  Следующим этапом стала «упаковка исполняемых файлов» двумя упаковщиками: «UPX» и «MPRESS». После упаковки мы провели анализ: построили гистограммы и рассчитали энтропию для всех 6 файлов. Результаты показали, что UPX продемонстрировал выдающуюся эффективность. MPRESS показал не впечатляющие результаты.</a:t>
            </a:r>
          </a:p>
          <a:p>
            <a:pPr algn="l"/>
            <a:r>
              <a:rPr lang="ru-RU" sz="1700" dirty="0"/>
              <a:t>Параллельно мы провели «исследование энтропии различных форматов данных». Были взяты:</a:t>
            </a:r>
          </a:p>
          <a:p>
            <a:pPr algn="l"/>
            <a:r>
              <a:rPr lang="ru-RU" sz="1700" kern="100" dirty="0"/>
              <a:t>текстовые файлы (.</a:t>
            </a:r>
            <a:r>
              <a:rPr lang="ru-RU" sz="1700" kern="100" dirty="0" err="1"/>
              <a:t>txt</a:t>
            </a:r>
            <a:r>
              <a:rPr lang="ru-RU" sz="1700" kern="100" dirty="0"/>
              <a:t>, .</a:t>
            </a:r>
            <a:r>
              <a:rPr lang="ru-RU" sz="1700" kern="100" dirty="0" err="1"/>
              <a:t>docx</a:t>
            </a:r>
            <a:r>
              <a:rPr lang="ru-RU" sz="1700" kern="100" dirty="0"/>
              <a:t>) с содержанием сказки «Каша из топора»;</a:t>
            </a:r>
          </a:p>
          <a:p>
            <a:pPr algn="l"/>
            <a:r>
              <a:rPr lang="ru-RU" sz="1700" kern="100" dirty="0"/>
              <a:t>графические файлы (.</a:t>
            </a:r>
            <a:r>
              <a:rPr lang="ru-RU" sz="1700" kern="100" dirty="0" err="1"/>
              <a:t>jpg</a:t>
            </a:r>
            <a:r>
              <a:rPr lang="ru-RU" sz="1700" kern="100" dirty="0"/>
              <a:t>, .</a:t>
            </a:r>
            <a:r>
              <a:rPr lang="ru-RU" sz="1700" kern="100" dirty="0" err="1"/>
              <a:t>png</a:t>
            </a:r>
            <a:r>
              <a:rPr lang="ru-RU" sz="1700" kern="100" dirty="0"/>
              <a:t>) — обложка книги;</a:t>
            </a:r>
          </a:p>
          <a:p>
            <a:pPr algn="l"/>
            <a:r>
              <a:rPr lang="ru-RU" sz="1700" kern="100" dirty="0"/>
              <a:t>табличные файлы (.</a:t>
            </a:r>
            <a:r>
              <a:rPr lang="ru-RU" sz="1700" kern="100" dirty="0" err="1"/>
              <a:t>xlsx</a:t>
            </a:r>
            <a:r>
              <a:rPr lang="ru-RU" sz="1700" kern="100" dirty="0"/>
              <a:t>, .</a:t>
            </a:r>
            <a:r>
              <a:rPr lang="ru-RU" sz="1700" kern="100" dirty="0" err="1"/>
              <a:t>xlsb</a:t>
            </a:r>
            <a:r>
              <a:rPr lang="ru-RU" sz="1700" kern="100" dirty="0"/>
              <a:t>);</a:t>
            </a:r>
          </a:p>
          <a:p>
            <a:pPr algn="l"/>
            <a:r>
              <a:rPr lang="ru-RU" sz="1700" kern="100" dirty="0"/>
              <a:t>аудиофайлы (.</a:t>
            </a:r>
            <a:r>
              <a:rPr lang="ru-RU" sz="1700" kern="100" dirty="0" err="1"/>
              <a:t>wav</a:t>
            </a:r>
            <a:r>
              <a:rPr lang="ru-RU" sz="1700" kern="100" dirty="0"/>
              <a:t>, .mp3).</a:t>
            </a:r>
          </a:p>
          <a:p>
            <a:pPr algn="l"/>
            <a:r>
              <a:rPr lang="ru-RU" sz="1700" dirty="0"/>
              <a:t>Для каждого файла построены гистограммы и рассчитана энтропия исходных версий. Затем все файлы были упакованы в ZIP-архивы с максимальным сжатием, после чего для архивов также проведён анализ. Это позволило сравнить влияние архивации на разные типы данных. На заключительном этапе все результаты систематизированы в «сводную таблицу».</a:t>
            </a:r>
          </a:p>
        </p:txBody>
      </p:sp>
      <p:pic>
        <p:nvPicPr>
          <p:cNvPr id="7" name="Рисунок 6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FC711F-92DF-F8BF-C4E2-6E5314D30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8" name="Номер слайда 6">
            <a:extLst>
              <a:ext uri="{FF2B5EF4-FFF2-40B4-BE49-F238E27FC236}">
                <a16:creationId xmlns:a16="http://schemas.microsoft.com/office/drawing/2014/main" id="{1993628F-BA18-A4D2-B833-DCF64567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CC8C628-6975-4CC2-A0F1-47F458287FF0}" type="slidenum">
              <a:rPr lang="ru-RU" smtClean="0"/>
              <a:t>2</a:t>
            </a:fld>
            <a:endParaRPr lang="ru-RU"/>
          </a:p>
        </p:txBody>
      </p:sp>
      <p:pic>
        <p:nvPicPr>
          <p:cNvPr id="10" name="Рисунок 9" descr="Изображение выглядит как Шрифт, рукописный текст, текс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C23F852-063D-44C0-A209-469C6D6C9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37" y="1399353"/>
            <a:ext cx="2772162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1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6AF88-C16E-68EC-1498-BF4747DE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76CC0989-FFE6-F5C6-36D5-8892A3E52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EA3F1-EBFA-500A-974E-D48D05AD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74956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ре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функции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языке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 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без сжатия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1988062D-7DF2-FA74-6F7F-482819393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CF37E3CE-E998-A90E-915B-422ABAD2B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695730"/>
              </p:ext>
            </p:extLst>
          </p:nvPr>
        </p:nvGraphicFramePr>
        <p:xfrm>
          <a:off x="2316213" y="2447843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03B18FCE-9EC8-C7D1-C42B-2BA65F6CB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671733"/>
              </p:ext>
            </p:extLst>
          </p:nvPr>
        </p:nvGraphicFramePr>
        <p:xfrm>
          <a:off x="7154067" y="2472996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снимок экрана, Мультимедийное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566AD0-1516-841C-518D-F2E2BDF2E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8" y="3043612"/>
            <a:ext cx="12192000" cy="3312738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CF1854-A6F1-90E7-CF53-4236A3A5E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5F0310-C593-EE18-CC66-B81557E4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920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94B97-48F6-6C99-5386-068DDE68E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87582DBD-FED4-3E8B-CB52-177E054D4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60A768-239A-1DE9-4894-6FF3B4B81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7DF78-FD44-7CD4-4C0B-358E3B95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распределания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значений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ре</a:t>
            </a:r>
            <a:r>
              <a:rPr lang="ru-RU" sz="4000" dirty="0"/>
              <a:t>ш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функции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языке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/>
              <a:t>средняя степень сжатия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1106B6B9-90C6-5EEA-F210-122C992AC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97F35C8-2890-7BE2-864B-717C9E187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94332"/>
              </p:ext>
            </p:extLst>
          </p:nvPr>
        </p:nvGraphicFramePr>
        <p:xfrm>
          <a:off x="2062213" y="2518454"/>
          <a:ext cx="282813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12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6CA5D814-0626-05A8-7E38-40CE21EFC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41010"/>
              </p:ext>
            </p:extLst>
          </p:nvPr>
        </p:nvGraphicFramePr>
        <p:xfrm>
          <a:off x="6900717" y="2510497"/>
          <a:ext cx="2828133" cy="402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0297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снимок экрана, Мультимедийное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6F6532-AB75-80B4-07CD-C5B1C5E2E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9" y="3112814"/>
            <a:ext cx="12192000" cy="3218269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29B938-A987-7DC9-0CC8-DE13CEA14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987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AC04E1-C6E1-5698-6355-1E376DB0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38FA37D9-EF60-CCC3-08A4-64874A448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FD5E6C-F43E-F48B-249B-C616C79F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4E9EF-2927-5ABB-C0C9-B79E7D37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ре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функции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языке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/>
              <a:t>высокая степень сжатия</a:t>
            </a:r>
            <a:r>
              <a:rPr lang="en-US" sz="4000" dirty="0"/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A3D6C37B-F4A9-C0C9-9C4B-4EBB201A5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FFA97434-BD3A-4315-B077-9CD12E3A3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56235"/>
              </p:ext>
            </p:extLst>
          </p:nvPr>
        </p:nvGraphicFramePr>
        <p:xfrm>
          <a:off x="1859013" y="250074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EBF54F5-2083-B34D-7A1D-3DD306F83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472104"/>
              </p:ext>
            </p:extLst>
          </p:nvPr>
        </p:nvGraphicFramePr>
        <p:xfrm>
          <a:off x="7025506" y="25045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7" name="Рисунок 6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6FF906-795B-60A8-4E6B-DEBFC8B69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40783"/>
            <a:ext cx="12192000" cy="3115567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4510AD-0E0B-3DE1-8ABC-C589126E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698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8882" y="74956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ре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функции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языке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C# 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без сжатия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8E80E1-6A94-5AF0-6BDE-718891ABE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47390"/>
            <a:ext cx="12191999" cy="3108960"/>
          </a:xfrm>
          <a:prstGeom prst="rect">
            <a:avLst/>
          </a:prstGeom>
        </p:spPr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4D0A4551-B785-1D79-4C76-D9063DCC0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995812"/>
              </p:ext>
            </p:extLst>
          </p:nvPr>
        </p:nvGraphicFramePr>
        <p:xfrm>
          <a:off x="1938600" y="2525806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151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0B039FE2-0E40-F328-5569-46DB6C34A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375339"/>
              </p:ext>
            </p:extLst>
          </p:nvPr>
        </p:nvGraphicFramePr>
        <p:xfrm>
          <a:off x="6965635" y="252580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2BD6AF-7434-35EF-9368-03353FC01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832AE6-C616-E92C-129F-3F5478FA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578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649EC-CE00-7E9D-E2E0-6B929849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74481313-A3C7-C5DC-CE97-AD7378362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CBF29A-6F09-0F32-4C71-271BF553C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35BAC-CD45-8E9A-F732-905EC96F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распределания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значений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ре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функции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языке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C#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/>
              <a:t>средняя степень сжатия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4E49E4A9-8FAE-7DA8-C752-D88C60B54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23027739-9391-CC3F-68EB-943D7BD34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66446"/>
              </p:ext>
            </p:extLst>
          </p:nvPr>
        </p:nvGraphicFramePr>
        <p:xfrm>
          <a:off x="1964000" y="2642129"/>
          <a:ext cx="282813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64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8929C32-D4CD-C617-BDD8-901CBA02C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989420"/>
              </p:ext>
            </p:extLst>
          </p:nvPr>
        </p:nvGraphicFramePr>
        <p:xfrm>
          <a:off x="6756133" y="2585609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5F425DD-8B5C-B256-AC7D-9B029A1C0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9" y="3287819"/>
            <a:ext cx="12192000" cy="306853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DD75F-5FBC-2405-5C4D-101B5FFC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83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06809-DE7F-5DA5-6BC6-A2B63F2DD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354DF449-6DDC-3083-5ADD-241CEA16D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89320-9955-B289-00D4-338BBC3B4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ре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функции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языке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C#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/>
              <a:t>высокая степень сжатия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DC6014C-7F00-03C1-195A-4F3C46CFD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98AFA70-8A9C-9EC1-B618-0A4F63A3E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551099"/>
              </p:ext>
            </p:extLst>
          </p:nvPr>
        </p:nvGraphicFramePr>
        <p:xfrm>
          <a:off x="1938600" y="2526366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02C8C395-730C-DEAD-DDC5-C97C683E3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891719"/>
              </p:ext>
            </p:extLst>
          </p:nvPr>
        </p:nvGraphicFramePr>
        <p:xfrm>
          <a:off x="6817093" y="255036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Мультимедийное программное обеспечение,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3BC53D-A144-5F66-97C9-44D2C461E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9" y="3280215"/>
            <a:ext cx="12192000" cy="3076135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19D1DF-BEA4-84E8-DE42-30AE5E53D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73C4D-0408-DF6E-F24A-7C5E7516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58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5A137-322E-C13F-FF45-244F958C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C2323F65-12F0-7C9A-D2D3-A09C4CDC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A0E59-E7CD-85A0-ED43-E6E962D0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74956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ре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функции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языке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dirty="0"/>
              <a:t>Python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без сжатия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22031C0B-EA1C-6DBE-0C85-C043F997F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CAB44003-F2D5-5D8C-0D5A-73B8444F9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822602"/>
              </p:ext>
            </p:extLst>
          </p:nvPr>
        </p:nvGraphicFramePr>
        <p:xfrm>
          <a:off x="2072373" y="255904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7 870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4FD40FE-CDBA-EDA6-EDE1-B27B2495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936077"/>
              </p:ext>
            </p:extLst>
          </p:nvPr>
        </p:nvGraphicFramePr>
        <p:xfrm>
          <a:off x="7132186" y="255904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C76F58-CA0C-A199-44B3-6D8B588D8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96477"/>
            <a:ext cx="12192000" cy="3076135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4D25A0-0F8C-5679-AE5A-4F2F9655A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DB6B62-7221-30E3-3375-24BC8057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124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F0F9F-411B-3855-1E70-DCF8AEE9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BEA26A4B-6969-68CD-1652-A7BECBF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974FA1-1E32-EFE1-3825-7D5A90666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37A60-E74E-9E20-F9DE-166E16628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распределания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значений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ре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функции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языке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dirty="0"/>
              <a:t>Python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/>
              <a:t>средняя степень сжатия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C415B242-3315-F80F-70F8-AAFBC3692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3BD854A-601B-9478-801C-8CCBD1627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703024"/>
              </p:ext>
            </p:extLst>
          </p:nvPr>
        </p:nvGraphicFramePr>
        <p:xfrm>
          <a:off x="2255253" y="2667990"/>
          <a:ext cx="282813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7 708 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1927F515-25E6-9018-44EE-5E2115962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780518"/>
              </p:ext>
            </p:extLst>
          </p:nvPr>
        </p:nvGraphicFramePr>
        <p:xfrm>
          <a:off x="6900717" y="2549612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E99EEA-56EC-3011-ED4E-047987308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9" y="3302709"/>
            <a:ext cx="12192000" cy="305364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30FEA7-07B5-67D0-C086-D27A4D00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67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4348B-F4D5-96BB-6500-457F2304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DFCC42BC-BA09-5A45-7748-D28555EF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6B22C4-843C-D285-82EF-44DF75A3F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72DF9-3B97-1301-FCD5-5F7A5E4E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ре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функции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языке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dirty="0"/>
              <a:t>Python</a:t>
            </a:r>
            <a:r>
              <a:rPr lang="ru-RU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/>
              <a:t>высокая степень сжатия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15735FA2-7F80-1210-5FDE-455AD3830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D817075-3BFA-6934-DCE4-FFC066A7D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052880"/>
              </p:ext>
            </p:extLst>
          </p:nvPr>
        </p:nvGraphicFramePr>
        <p:xfrm>
          <a:off x="1938600" y="2627796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7728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8F01C24D-FE2A-254A-F1F3-9B711DD75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59382"/>
              </p:ext>
            </p:extLst>
          </p:nvPr>
        </p:nvGraphicFramePr>
        <p:xfrm>
          <a:off x="7345413" y="2593283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5A8E71-F368-6E83-8DD5-01157F93B2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95493"/>
            <a:ext cx="12192000" cy="3078104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EFEAA4-9356-4D9D-217F-C67DC3065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83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A2DEC-06E4-0D72-513A-BD7A1BB48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94180104-6E35-D659-2D5B-B4E117567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0CA32E-F152-6F16-7C51-599DD68D8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изображения обложки книги в формате</a:t>
            </a:r>
            <a:r>
              <a:rPr lang="en-US" sz="4000" dirty="0"/>
              <a:t> jpg</a:t>
            </a:r>
            <a:r>
              <a:rPr lang="ru-RU" sz="4000" dirty="0"/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F6145663-2292-D41F-5CC1-81EC17454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7350F66D-EBDF-9A61-40AE-FB8E28540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340924"/>
              </p:ext>
            </p:extLst>
          </p:nvPr>
        </p:nvGraphicFramePr>
        <p:xfrm>
          <a:off x="1879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1528BECE-A2BE-7415-5830-DA22D291B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897410"/>
              </p:ext>
            </p:extLst>
          </p:nvPr>
        </p:nvGraphicFramePr>
        <p:xfrm>
          <a:off x="6705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9BA76E-EC09-45E1-3F00-AA96F06D2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9499"/>
            <a:ext cx="12192000" cy="2696851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A43583-8DEC-F203-1461-11A26CCF5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E90D4E-122B-1928-04FD-BB495661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424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58E18-2DD3-4935-00C6-E048D3A26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5F7EFE2A-7AAE-D672-396D-C3C4E12B5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DA5A49-1AA3-91E9-BA02-31BA0C69D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8874C-3620-6CBA-5E7F-6C3875E2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изображения обложки книги сжатая в формате</a:t>
            </a:r>
            <a:r>
              <a:rPr lang="en-US" sz="4000" dirty="0"/>
              <a:t> jpg</a:t>
            </a:r>
            <a:r>
              <a:rPr lang="ru-RU" sz="4000" dirty="0"/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36196E89-A53C-6414-4DBD-9AFEE7A8E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091F4DEF-D758-7186-8349-14C68C994AB8}"/>
              </a:ext>
            </a:extLst>
          </p:cNvPr>
          <p:cNvGraphicFramePr>
            <a:graphicFrameLocks noGrp="1"/>
          </p:cNvGraphicFramePr>
          <p:nvPr/>
        </p:nvGraphicFramePr>
        <p:xfrm>
          <a:off x="1879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3AC2478F-D0A3-71F4-C242-76E1E71F8029}"/>
              </a:ext>
            </a:extLst>
          </p:cNvPr>
          <p:cNvGraphicFramePr>
            <a:graphicFrameLocks noGrp="1"/>
          </p:cNvGraphicFramePr>
          <p:nvPr/>
        </p:nvGraphicFramePr>
        <p:xfrm>
          <a:off x="6705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снимок экрана, Графическое программное обеспечение, Мультимедийн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EC3E0C-0092-CC70-6272-B7461271E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2000" cy="283062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38FFAD-5E13-13AD-B484-B2655B7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253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11D81-BC12-2C03-0C4F-55F13593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2F29D117-F2FD-DA8B-7477-DDC7F1C38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2E417-BFFE-2929-969A-E12AC9DB6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изображения обложки книги в формате</a:t>
            </a:r>
            <a:r>
              <a:rPr lang="en-US" sz="4000" dirty="0"/>
              <a:t> </a:t>
            </a:r>
            <a:r>
              <a:rPr lang="en-US" sz="4000" dirty="0" err="1"/>
              <a:t>png</a:t>
            </a:r>
            <a:r>
              <a:rPr lang="ru-RU" sz="4000" dirty="0"/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91DC5804-B76D-E855-6309-051D3D7F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394EEC2-DBA6-5E9C-58AB-9F17C4379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647343"/>
              </p:ext>
            </p:extLst>
          </p:nvPr>
        </p:nvGraphicFramePr>
        <p:xfrm>
          <a:off x="2113013" y="252346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37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2E7388F3-2B10-312E-A5AF-21D80B995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061788"/>
              </p:ext>
            </p:extLst>
          </p:nvPr>
        </p:nvGraphicFramePr>
        <p:xfrm>
          <a:off x="6900717" y="25157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A3B8FEA-89C3-4446-E073-36D90AB9B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9" y="3242700"/>
            <a:ext cx="12192000" cy="3113650"/>
          </a:xfrm>
          <a:prstGeom prst="rect">
            <a:avLst/>
          </a:prstGeom>
        </p:spPr>
      </p:pic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2F4180-99A8-D8A7-DCF7-E06C78A38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8EAC59-EBB9-6C40-464A-6FBC2FF1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797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6FC1C-B7D1-6346-6EF7-6F9CDBC9C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9A6C8B58-569B-2722-277F-AAE09A6F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DDD8A3-B756-0836-32DB-0442A0738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4F4DF-6033-46FF-361A-03B4A9E3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изображения обложки книги сжатая в формате</a:t>
            </a:r>
            <a:r>
              <a:rPr lang="en-US" sz="4000" dirty="0"/>
              <a:t> </a:t>
            </a:r>
            <a:r>
              <a:rPr lang="en-US" sz="4000" dirty="0" err="1"/>
              <a:t>png</a:t>
            </a:r>
            <a:r>
              <a:rPr lang="ru-RU" sz="4000" dirty="0"/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AB201BEB-CAF8-8F06-F050-8D22658F1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ECC7233-DB9A-A22C-4825-0DC9B6C1B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830621"/>
              </p:ext>
            </p:extLst>
          </p:nvPr>
        </p:nvGraphicFramePr>
        <p:xfrm>
          <a:off x="1994480" y="2597516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820CA78-9FE7-9FB6-1E35-2E08F25D6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503920"/>
              </p:ext>
            </p:extLst>
          </p:nvPr>
        </p:nvGraphicFramePr>
        <p:xfrm>
          <a:off x="6817093" y="2597516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FB81DE-701C-3611-E791-4B58ED76E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9" y="3370489"/>
            <a:ext cx="12192000" cy="292811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811716-5B3D-DDE5-35DD-20E0CB72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267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55419-B418-8942-05BC-AB7DD617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AB1A5F22-B208-2BC0-2B53-ECDFDF925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8CF48-0223-DEB0-FDBA-05044FA11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сказки «Каша из топора»</a:t>
            </a:r>
            <a:r>
              <a:rPr lang="en-US" sz="4000" dirty="0"/>
              <a:t>.doc</a:t>
            </a:r>
            <a:r>
              <a:rPr lang="ru-RU" sz="4000" dirty="0"/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F24B5C62-8D19-CCF2-0D3B-EDB94F1F8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CF93F3DC-EFD2-2192-1433-BEFAD8F34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09308"/>
              </p:ext>
            </p:extLst>
          </p:nvPr>
        </p:nvGraphicFramePr>
        <p:xfrm>
          <a:off x="1938600" y="261404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CD81CC1-979C-888B-36E3-C5E9345B5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447268"/>
              </p:ext>
            </p:extLst>
          </p:nvPr>
        </p:nvGraphicFramePr>
        <p:xfrm>
          <a:off x="6705333" y="2579532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99398F-DA30-CED0-D148-C50E7209A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742"/>
            <a:ext cx="12192000" cy="3119057"/>
          </a:xfrm>
          <a:prstGeom prst="rect">
            <a:avLst/>
          </a:prstGeom>
        </p:spPr>
      </p:pic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12BC58-63AE-47CB-6D86-6BFBFEB59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0D43E6-B628-6991-EA09-CD948C48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132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DCF36-0C35-1A86-6CB2-AFEC25B3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5CFBE41B-061D-18FA-49CD-93B8105B2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F0E31F-26A7-9355-AF4A-74547032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сжатой сказки «Каша из топора»</a:t>
            </a:r>
            <a:r>
              <a:rPr lang="en-US" sz="4000" dirty="0"/>
              <a:t>.doc</a:t>
            </a:r>
            <a:r>
              <a:rPr lang="ru-RU" sz="4000" dirty="0"/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E2EBC8DA-3F82-3604-A7F1-7E4D8436B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05085003-52AF-8FCC-687B-30EBE258D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859356"/>
              </p:ext>
            </p:extLst>
          </p:nvPr>
        </p:nvGraphicFramePr>
        <p:xfrm>
          <a:off x="1879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9ACE471-369C-E377-BB9B-96B047DEE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053967"/>
              </p:ext>
            </p:extLst>
          </p:nvPr>
        </p:nvGraphicFramePr>
        <p:xfrm>
          <a:off x="6705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63E615C-6F89-32C7-D5AE-752BB2B3A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99" y="3661903"/>
            <a:ext cx="12192000" cy="2694447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A6C1D9-D280-915F-3968-B4F201932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779155-6D6E-E31C-DB2D-15B20FAB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334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67732-C2DF-2461-32AA-CFDA82F0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6E2DD859-0BD7-ABFA-6565-1EEF5A22D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540ED-D266-F3E0-A653-9FDA6EB46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сказки «Каша из топора»</a:t>
            </a:r>
            <a:r>
              <a:rPr lang="en-US" sz="4000" dirty="0"/>
              <a:t>.txt</a:t>
            </a:r>
            <a:r>
              <a:rPr lang="ru-RU" sz="4000" dirty="0"/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12873902-84F8-42B8-5F86-D23A418D4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CDE5F645-38AC-140D-C03D-1CB121764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078404"/>
              </p:ext>
            </p:extLst>
          </p:nvPr>
        </p:nvGraphicFramePr>
        <p:xfrm>
          <a:off x="2092693" y="2528247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1A88529-59E0-3A9B-4277-6FC075D36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683294"/>
              </p:ext>
            </p:extLst>
          </p:nvPr>
        </p:nvGraphicFramePr>
        <p:xfrm>
          <a:off x="6900717" y="2575816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4.13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9981A4-38B0-9E58-41DC-6CF342B4A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9" y="3285223"/>
            <a:ext cx="12192000" cy="3098644"/>
          </a:xfrm>
          <a:prstGeom prst="rect">
            <a:avLst/>
          </a:prstGeom>
        </p:spPr>
      </p:pic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57AD0C-6CAF-472C-1402-09488C012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858787-986E-9CEA-16AD-F4C82C51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132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A99A6-36E0-AC86-3D2C-4C664C328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966C1036-8337-B7C3-E94E-DB82EED01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D2437-61B8-5C99-C904-B8816488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сжатой сказки «Каша из топора»</a:t>
            </a:r>
            <a:r>
              <a:rPr lang="en-US" sz="4000" dirty="0"/>
              <a:t>.txt</a:t>
            </a:r>
            <a:r>
              <a:rPr lang="ru-RU" sz="4000" dirty="0"/>
              <a:t>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384FB036-9560-2E15-1F9E-3EAD6327F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B92240C1-3295-A6D2-D51B-78C7DD6F2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997008"/>
              </p:ext>
            </p:extLst>
          </p:nvPr>
        </p:nvGraphicFramePr>
        <p:xfrm>
          <a:off x="1879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45FE38C-CB9A-57EF-ACB5-41B6C851D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33759"/>
              </p:ext>
            </p:extLst>
          </p:nvPr>
        </p:nvGraphicFramePr>
        <p:xfrm>
          <a:off x="6705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7.76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20395B-C871-9309-9DFF-4DFD9459E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1134"/>
            <a:ext cx="12192000" cy="2715216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2814B8-726A-246D-5E35-A2259B9B8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3A82DB-9CBB-4B5B-2EAA-8F34853B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726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2D8DEC-1C7D-D769-4572-CAFE9615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4DED8515-E05A-5BD9-4913-876491F6A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09481-CEA4-739F-B496-23AD8B11C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Таблички.</a:t>
            </a:r>
            <a:r>
              <a:rPr lang="en-US" sz="4000" dirty="0"/>
              <a:t>xlsx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B6924721-A116-593B-D32F-4537D6973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4295EF89-6562-B89E-4887-D052F4624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888562"/>
              </p:ext>
            </p:extLst>
          </p:nvPr>
        </p:nvGraphicFramePr>
        <p:xfrm>
          <a:off x="1879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0948BD8-8A1E-6EBA-875B-FA1142C55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050205"/>
              </p:ext>
            </p:extLst>
          </p:nvPr>
        </p:nvGraphicFramePr>
        <p:xfrm>
          <a:off x="6705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6.97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81E959-9248-C262-453C-964144600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5262"/>
            <a:ext cx="12192000" cy="2752550"/>
          </a:xfrm>
          <a:prstGeom prst="rect">
            <a:avLst/>
          </a:prstGeom>
        </p:spPr>
      </p:pic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D56E9A-9E3E-320E-B913-03367345B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059E19-3925-F599-640B-86525479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790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39E7F-1111-7C81-0D57-E9D5C89A0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20D98E0F-F731-26B1-90E8-4B0ECA8F2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684F0-3CE7-D93C-E08A-AB0E765C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сжатой </a:t>
            </a:r>
            <a:r>
              <a:rPr lang="en-US" sz="4000" dirty="0"/>
              <a:t> </a:t>
            </a:r>
            <a:r>
              <a:rPr lang="ru-RU" sz="4000" dirty="0"/>
              <a:t>Таблички.</a:t>
            </a:r>
            <a:r>
              <a:rPr lang="en-US" sz="4000" dirty="0"/>
              <a:t>xlsx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74C5CA48-CB8E-B291-7C5E-202AD27AC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40CCAE4F-4B07-3A09-9BDF-0F36E61DE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456053"/>
              </p:ext>
            </p:extLst>
          </p:nvPr>
        </p:nvGraphicFramePr>
        <p:xfrm>
          <a:off x="1879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C5CB3CAC-AF82-0E9E-ED0E-6CFB79098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109199"/>
              </p:ext>
            </p:extLst>
          </p:nvPr>
        </p:nvGraphicFramePr>
        <p:xfrm>
          <a:off x="6705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86BD27-E27E-6B60-F92C-43E537083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99" y="3429000"/>
            <a:ext cx="12192000" cy="2870028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EAC013-5CD0-9F2A-A53D-9501EE336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E178FE-C9CE-3F07-08FE-D6236A50E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498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2E9EC-AF86-C898-C275-A2C699C79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B853B2CE-81C2-E1DF-C1BC-95F9FC3BC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10A33-C716-B0B5-882C-3EECDD40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Таблички.</a:t>
            </a:r>
            <a:r>
              <a:rPr lang="en-US" sz="4000" dirty="0" err="1"/>
              <a:t>xlsb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28EFBECD-E690-FCFB-67AB-22EF182F7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FA43666E-FECE-62AC-DD3A-EBA5DFE0C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898519"/>
              </p:ext>
            </p:extLst>
          </p:nvPr>
        </p:nvGraphicFramePr>
        <p:xfrm>
          <a:off x="1879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54307CCD-87F6-6D94-6B45-55D019A2F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694309"/>
              </p:ext>
            </p:extLst>
          </p:nvPr>
        </p:nvGraphicFramePr>
        <p:xfrm>
          <a:off x="6705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6.76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ADE038-7789-18B1-8F0A-52D87159B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5289"/>
            <a:ext cx="12192000" cy="2691061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B0AF652-7A59-3F8D-F6F3-DA2AD9AD7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7574B8-B696-F47F-65F6-79A062A0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822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D2299-9430-DE13-2B19-CCFA2F358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233E58CF-5281-CE35-31C5-1F56C6A72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73F3B-5001-18D5-7EAC-FA09A79E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сжатой </a:t>
            </a:r>
            <a:r>
              <a:rPr lang="en-US" sz="4000" dirty="0"/>
              <a:t> </a:t>
            </a:r>
            <a:r>
              <a:rPr lang="ru-RU" sz="4000" dirty="0"/>
              <a:t>Таблички.</a:t>
            </a:r>
            <a:r>
              <a:rPr lang="en-US" sz="4000" dirty="0" err="1"/>
              <a:t>xlsb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B3D7D880-83DC-5861-63CD-57503ED77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9F1D4F0-FA4C-4789-F178-C940DFA66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596771"/>
              </p:ext>
            </p:extLst>
          </p:nvPr>
        </p:nvGraphicFramePr>
        <p:xfrm>
          <a:off x="1879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38E142D-6B57-B288-5A8A-48ED4147D3E3}"/>
              </a:ext>
            </a:extLst>
          </p:cNvPr>
          <p:cNvGraphicFramePr>
            <a:graphicFrameLocks noGrp="1"/>
          </p:cNvGraphicFramePr>
          <p:nvPr/>
        </p:nvGraphicFramePr>
        <p:xfrm>
          <a:off x="6705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0F55F7-7030-F19F-CE61-F6E4FB274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5364"/>
            <a:ext cx="12192000" cy="2670986"/>
          </a:xfrm>
          <a:prstGeom prst="rect">
            <a:avLst/>
          </a:prstGeom>
        </p:spPr>
      </p:pic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C0E1FD-B9D5-03D4-E40E-401A40CCF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DB36AF-E004-610C-1C6F-B4C80B4F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750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C6F1D-D65F-128B-35BF-B0B745634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0D6303D7-5ADB-9629-B94A-7D1753235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1C8F5-D1A5-5078-8C2E-D0DF029E9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звука.</a:t>
            </a:r>
            <a:r>
              <a:rPr lang="en-US" sz="4000" dirty="0"/>
              <a:t>wav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F2555EC-5BBC-AB40-DE89-8AC3C5AC2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3D2DF68-0619-D700-542F-E86B46A53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611670"/>
              </p:ext>
            </p:extLst>
          </p:nvPr>
        </p:nvGraphicFramePr>
        <p:xfrm>
          <a:off x="2011413" y="261275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1566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539D26D0-B94E-0057-C8F7-234F57963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621300"/>
              </p:ext>
            </p:extLst>
          </p:nvPr>
        </p:nvGraphicFramePr>
        <p:xfrm>
          <a:off x="6900717" y="26127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7.18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1F89D55-F3C0-CB54-8F30-5C755F5E6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9" y="3352799"/>
            <a:ext cx="12192000" cy="3048000"/>
          </a:xfrm>
          <a:prstGeom prst="rect">
            <a:avLst/>
          </a:prstGeom>
        </p:spPr>
      </p:pic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1918E3-2555-ECE9-A542-ACF663935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DB33D9-582E-4FB3-A2C2-BC453564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842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86D08-2113-259B-E4A6-C6D9C4C0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4496270D-22A5-DA19-575C-C39F2303E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52589-F15D-2919-115E-734B945F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сжатого</a:t>
            </a:r>
            <a:r>
              <a:rPr lang="en-US" sz="4000" dirty="0"/>
              <a:t> </a:t>
            </a:r>
            <a:r>
              <a:rPr lang="ru-RU" sz="4000" dirty="0"/>
              <a:t>звука.</a:t>
            </a:r>
            <a:r>
              <a:rPr lang="en-US" sz="4000" dirty="0"/>
              <a:t>wav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247A1BF-DFC0-6E04-A094-E6A7F3BAE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234D0154-28FB-8D8B-932C-18B3D78AD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608181"/>
              </p:ext>
            </p:extLst>
          </p:nvPr>
        </p:nvGraphicFramePr>
        <p:xfrm>
          <a:off x="1879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604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E48FE86-F642-26EC-A560-E54556068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611514"/>
              </p:ext>
            </p:extLst>
          </p:nvPr>
        </p:nvGraphicFramePr>
        <p:xfrm>
          <a:off x="6705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588715-5B68-63CC-09BD-15DF5B2E8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99" y="3640348"/>
            <a:ext cx="12192000" cy="2716002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24A4D3-A9BF-2ADC-AA88-EE029172C4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E20B00-623F-4A22-5978-95755EA9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816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01FE1-0B98-A914-09EA-FD5D6D6B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392EB6FF-DE5B-870D-CC63-8054C7766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25FD6-7192-A4DB-855E-3B5F7A31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звука.</a:t>
            </a:r>
            <a:r>
              <a:rPr lang="en-US" sz="4000" dirty="0"/>
              <a:t>mp3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8051088F-2D58-6C76-221A-3D4AE4E05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C7C406D9-4D6D-3EA0-6131-B830799FB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79209"/>
              </p:ext>
            </p:extLst>
          </p:nvPr>
        </p:nvGraphicFramePr>
        <p:xfrm>
          <a:off x="2102853" y="2631309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126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CDA99E3D-FEC7-7956-026A-027C36F13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942044"/>
              </p:ext>
            </p:extLst>
          </p:nvPr>
        </p:nvGraphicFramePr>
        <p:xfrm>
          <a:off x="6715493" y="2596796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7.85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65FD2D-D90F-B84B-B84A-B98B4339E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99006"/>
            <a:ext cx="12192000" cy="3057344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C4A342-B8E9-29B1-2408-67E0725FC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6D40E4-2470-4472-6B9F-FFB168FA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493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21ADF-CF73-2482-EB61-F18D23522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5FE9F1CE-DEE8-E6ED-641A-3ED93700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E1F69-C30E-7AB5-DF98-792D33DDC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4000" dirty="0" err="1"/>
              <a:t>распределания</a:t>
            </a:r>
            <a:r>
              <a:rPr lang="ru-RU" sz="4000" dirty="0"/>
              <a:t> значений</a:t>
            </a:r>
            <a:r>
              <a:rPr lang="en-US" sz="4000" dirty="0"/>
              <a:t> </a:t>
            </a:r>
            <a:r>
              <a:rPr lang="ru-RU" sz="4000" dirty="0"/>
              <a:t>сжатого</a:t>
            </a:r>
            <a:r>
              <a:rPr lang="en-US" sz="4000" dirty="0"/>
              <a:t> </a:t>
            </a:r>
            <a:r>
              <a:rPr lang="ru-RU" sz="4000" dirty="0"/>
              <a:t>звука.</a:t>
            </a:r>
            <a:r>
              <a:rPr lang="en-US" sz="4000" dirty="0"/>
              <a:t>mp3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1FCC1396-3A14-6973-1B1D-B27A3BA5E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B476334-B4ED-5D68-1864-06704257F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50071"/>
              </p:ext>
            </p:extLst>
          </p:nvPr>
        </p:nvGraphicFramePr>
        <p:xfrm>
          <a:off x="1879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122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2384BD22-3349-3C9B-BD1A-67E1829143A7}"/>
              </a:ext>
            </a:extLst>
          </p:cNvPr>
          <p:cNvGraphicFramePr>
            <a:graphicFrameLocks noGrp="1"/>
          </p:cNvGraphicFramePr>
          <p:nvPr/>
        </p:nvGraphicFramePr>
        <p:xfrm>
          <a:off x="6705333" y="2747054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5" name="Рисунок 4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CE6E80-5754-FB04-347D-E5986C41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5262"/>
            <a:ext cx="12192000" cy="2725183"/>
          </a:xfrm>
          <a:prstGeom prst="rect">
            <a:avLst/>
          </a:prstGeom>
        </p:spPr>
      </p:pic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66A7FC-2448-9CA0-A7AC-6ACCFBC79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3EDBC0-5C50-74C4-3379-39E80A8C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79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8882" y="276086"/>
            <a:ext cx="10909640" cy="8016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Таблица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F30858B-779D-1BD0-F806-9B8BD3D66583}"/>
              </a:ext>
            </a:extLst>
          </p:cNvPr>
          <p:cNvSpPr/>
          <p:nvPr/>
        </p:nvSpPr>
        <p:spPr>
          <a:xfrm>
            <a:off x="3788330" y="1534160"/>
            <a:ext cx="4735910" cy="2580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984E350-63C9-5BC5-4419-2F4DFE652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375317"/>
              </p:ext>
            </p:extLst>
          </p:nvPr>
        </p:nvGraphicFramePr>
        <p:xfrm>
          <a:off x="300242" y="1380963"/>
          <a:ext cx="11424357" cy="5280132"/>
        </p:xfrm>
        <a:graphic>
          <a:graphicData uri="http://schemas.openxmlformats.org/drawingml/2006/table">
            <a:tbl>
              <a:tblPr/>
              <a:tblGrid>
                <a:gridCol w="3433175">
                  <a:extLst>
                    <a:ext uri="{9D8B030D-6E8A-4147-A177-3AD203B41FA5}">
                      <a16:colId xmlns:a16="http://schemas.microsoft.com/office/drawing/2014/main" val="599086641"/>
                    </a:ext>
                  </a:extLst>
                </a:gridCol>
                <a:gridCol w="1873856">
                  <a:extLst>
                    <a:ext uri="{9D8B030D-6E8A-4147-A177-3AD203B41FA5}">
                      <a16:colId xmlns:a16="http://schemas.microsoft.com/office/drawing/2014/main" val="1929636521"/>
                    </a:ext>
                  </a:extLst>
                </a:gridCol>
                <a:gridCol w="1861144">
                  <a:extLst>
                    <a:ext uri="{9D8B030D-6E8A-4147-A177-3AD203B41FA5}">
                      <a16:colId xmlns:a16="http://schemas.microsoft.com/office/drawing/2014/main" val="663672005"/>
                    </a:ext>
                  </a:extLst>
                </a:gridCol>
                <a:gridCol w="2128091">
                  <a:extLst>
                    <a:ext uri="{9D8B030D-6E8A-4147-A177-3AD203B41FA5}">
                      <a16:colId xmlns:a16="http://schemas.microsoft.com/office/drawing/2014/main" val="3444452278"/>
                    </a:ext>
                  </a:extLst>
                </a:gridCol>
                <a:gridCol w="2128091">
                  <a:extLst>
                    <a:ext uri="{9D8B030D-6E8A-4147-A177-3AD203B41FA5}">
                      <a16:colId xmlns:a16="http://schemas.microsoft.com/office/drawing/2014/main" val="3389150081"/>
                    </a:ext>
                  </a:extLst>
                </a:gridCol>
              </a:tblGrid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Файл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Объём,Кб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Энтропия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Отношение объёмов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Отношение энтропий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280743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4,79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15772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LabsC_mpress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7,22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0,19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1,51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949875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LabsC_upx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6,49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0,13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1,35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737962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LabsCSharp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6,07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510611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LabsCSharp_mpress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7,80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0,42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1,29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884861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LabsCSharp_upx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487987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LabsPython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7870,00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7,99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428931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LabsPython_mpress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7708,00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7,85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287923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LabsPython_upx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7728,00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60599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jpg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94643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z.jpg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087856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png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98641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z.png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1,03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23291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doc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7,40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923887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z.doc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0,81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283438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4,13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936666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z.txt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7,76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1,88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04384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xlsx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15156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z.xlsx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0,73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1,14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899925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xlsb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6,76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920210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z.xlsb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379667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wav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1566,00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7,18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87854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z.wav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604,00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0,39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1,11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013963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mp3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126,00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7,85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67807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z.mp3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0,97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1,02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790945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F1D318-9876-BD95-42E5-C883426FA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801ACB-1E80-40D3-8ED3-00DFFFA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7360" y="6358941"/>
            <a:ext cx="2743200" cy="365125"/>
          </a:xfrm>
        </p:spPr>
        <p:txBody>
          <a:bodyPr/>
          <a:lstStyle/>
          <a:p>
            <a:fld id="{8CC8C628-6975-4CC2-A0F1-47F458287FF0}" type="slidenum">
              <a:rPr lang="ru-RU" smtClean="0"/>
              <a:t>28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6FC965-CA37-7B94-EDE1-733F580D6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330" y="990561"/>
            <a:ext cx="4610743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43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0088"/>
            <a:ext cx="10515600" cy="861897"/>
          </a:xfrm>
        </p:spPr>
        <p:txBody>
          <a:bodyPr>
            <a:normAutofit/>
          </a:bodyPr>
          <a:lstStyle/>
          <a:p>
            <a:r>
              <a:rPr lang="ru-RU" sz="4000" dirty="0"/>
              <a:t>Вывод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5940" y="1253331"/>
            <a:ext cx="11120120" cy="5103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dirty="0"/>
              <a:t>1) Энтропия и сжимаемость обратно пропорциональны: чем ниже исходная энтропия, тем выше сжимаемость. Пример: С (</a:t>
            </a:r>
            <a:r>
              <a:rPr lang="ru-RU" sz="1600" dirty="0">
                <a:solidFill>
                  <a:srgbClr val="000000"/>
                </a:solidFill>
                <a:latin typeface="Aptos Narrow" panose="020B0004020202020204" pitchFamily="34" charset="0"/>
              </a:rPr>
              <a:t>4.79</a:t>
            </a:r>
            <a:r>
              <a:rPr lang="ru-RU" sz="1600" dirty="0"/>
              <a:t>) сжата UPX на 87.3%, Python (7.99) — лишь на 1.8%. Это полностью соответствует теории информации Шеннона.</a:t>
            </a:r>
          </a:p>
          <a:p>
            <a:pPr marL="0" indent="0">
              <a:buNone/>
            </a:pPr>
            <a:r>
              <a:rPr lang="ru-RU" sz="1600" dirty="0"/>
              <a:t>2) UPX — наиболее эффективный и универсальный упаковщик: UPX стабильно показал высокие результаты на всех типах файлов: C — 12.7% от оригинала, C# — 42.4%, Python — 98.2. </a:t>
            </a:r>
          </a:p>
          <a:p>
            <a:pPr marL="0" indent="0">
              <a:buNone/>
            </a:pPr>
            <a:r>
              <a:rPr lang="ru-RU" sz="1600" dirty="0"/>
              <a:t>3) MPRESS проявляет избирательную эффективность: для C-программы MPRESS не сработал. Для C# — показал лучший результат среди всех тестов (38.4% от оригинала). Для Python — бесполезен.</a:t>
            </a:r>
          </a:p>
          <a:p>
            <a:pPr marL="0" indent="0">
              <a:buNone/>
            </a:pPr>
            <a:r>
              <a:rPr lang="ru-RU" sz="1600" dirty="0"/>
              <a:t>4)</a:t>
            </a:r>
            <a:r>
              <a:rPr lang="ru-RU" sz="1600" b="1" dirty="0"/>
              <a:t> </a:t>
            </a:r>
            <a:r>
              <a:rPr lang="ru-RU" sz="1600" dirty="0"/>
              <a:t>Язык программирования и способ компиляции критически влияют на сжимаемость: при идентичной логике: C — низкая энтропия, отличное сжатие; C# — средняя энтропия, хорошее сжатие; Python — высокая энтропия, сжатие бесполезно. Вывод: оценивать сжимаемость нужно не только по языку, но и по способу дистрибуции.</a:t>
            </a:r>
          </a:p>
          <a:p>
            <a:pPr marL="0" indent="0">
              <a:buNone/>
            </a:pPr>
            <a:r>
              <a:rPr lang="ru-RU" sz="1600" dirty="0"/>
              <a:t>5) Текстовые форматы: парадокс «финального сжатия» .</a:t>
            </a:r>
            <a:r>
              <a:rPr lang="ru-RU" sz="1600" dirty="0" err="1"/>
              <a:t>txt</a:t>
            </a:r>
            <a:r>
              <a:rPr lang="ru-RU" sz="1600" dirty="0"/>
              <a:t> (4.13) — отлично сжимается. .</a:t>
            </a:r>
            <a:r>
              <a:rPr lang="ru-RU" sz="1600" dirty="0" err="1"/>
              <a:t>docx</a:t>
            </a:r>
            <a:r>
              <a:rPr lang="ru-RU" sz="1600" dirty="0"/>
              <a:t> — уже сжатые контейнеры. Повторная архивация бесполезна. Практический вывод: не архивируйте документы Word — они уже оптимизированы.</a:t>
            </a:r>
          </a:p>
          <a:p>
            <a:pPr marL="0" indent="0">
              <a:buNone/>
            </a:pPr>
            <a:r>
              <a:rPr lang="ru-RU" sz="1600" dirty="0"/>
              <a:t>6) Графические и аудиоформаты делятся на «сжимаемые» и «финальные». mp3, .</a:t>
            </a:r>
            <a:r>
              <a:rPr lang="ru-RU" sz="1600" dirty="0" err="1"/>
              <a:t>jpg</a:t>
            </a:r>
            <a:r>
              <a:rPr lang="ru-RU" sz="1600" dirty="0"/>
              <a:t>, .</a:t>
            </a:r>
            <a:r>
              <a:rPr lang="ru-RU" sz="1600" dirty="0" err="1"/>
              <a:t>png</a:t>
            </a:r>
            <a:r>
              <a:rPr lang="ru-RU" sz="1600" dirty="0"/>
              <a:t> (7.9+) — финальные форматы, повторное сжатие бессмысленно, а .</a:t>
            </a:r>
            <a:r>
              <a:rPr lang="ru-RU" sz="1600" dirty="0" err="1"/>
              <a:t>wav</a:t>
            </a:r>
            <a:r>
              <a:rPr lang="ru-RU" sz="1600" dirty="0"/>
              <a:t> сжимается. Пользователь должен понимать: JPG, PNG, MP3 — это уже результат сжатия.</a:t>
            </a:r>
          </a:p>
          <a:p>
            <a:pPr marL="0" indent="0">
              <a:buNone/>
            </a:pPr>
            <a:r>
              <a:rPr lang="ru-RU" sz="1600" dirty="0"/>
              <a:t>7) </a:t>
            </a:r>
            <a:r>
              <a:rPr lang="ru-RU" sz="1600" b="1" dirty="0"/>
              <a:t> </a:t>
            </a:r>
            <a:r>
              <a:rPr lang="ru-RU" sz="1600" dirty="0"/>
              <a:t>Гистограмма — наглядный индикатор степени сжатия: исходные файлы с низкой энтропией имеют пиковые гистограммы. После эффективной упаковки гистограмма становится равномерной («белый шум»). Это позволяет визуально, без расчётов, оценить сжимаемость файла.</a:t>
            </a:r>
          </a:p>
          <a:p>
            <a:pPr marL="0" indent="0">
              <a:buNone/>
            </a:pPr>
            <a:r>
              <a:rPr lang="ru-RU" sz="1600" dirty="0"/>
              <a:t>8) Энтропия — объективный и универсальный критерий эффективности сжатия: энтропия Шеннона позволяет предсказать сжимаемость, оценить работу упаковщика и сравнить форматы хранения. Работа подтвердила это на 4 классах файлов и 2 типах алгоритмов. Полученные закономерности имеют прямое практическое применение: выбор формата, оптимизация дистрибутивов, оценка необходимости упаковки.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717F27-D23B-FE54-7791-32218449B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1EB64A-4323-3424-347E-B9C2E8E9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10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8BF6D-6408-DAA1-77B5-AB0FF735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0BDBB1D-238A-45D9-630F-4E4B6F236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350" y="3187267"/>
            <a:ext cx="3543300" cy="48346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EC9229-D156-AF9D-613F-70E20556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30</a:t>
            </a:fld>
            <a:endParaRPr lang="ru-RU"/>
          </a:p>
        </p:txBody>
      </p:sp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F95CCD-4237-E6E7-3C5B-26C3688C1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022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1256</Words>
  <Application>Microsoft Office PowerPoint</Application>
  <PresentationFormat>Широкоэкранный</PresentationFormat>
  <Paragraphs>311</Paragraphs>
  <Slides>30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Aptos Narrow</vt:lpstr>
      <vt:lpstr>Arial</vt:lpstr>
      <vt:lpstr>Arial Black</vt:lpstr>
      <vt:lpstr>Calibri</vt:lpstr>
      <vt:lpstr>Calibri Light</vt:lpstr>
      <vt:lpstr>Times New Roman</vt:lpstr>
      <vt:lpstr>Тема Office</vt:lpstr>
      <vt:lpstr>Презентация PowerPoint</vt:lpstr>
      <vt:lpstr>Что мы делали</vt:lpstr>
      <vt:lpstr>Гистограмма распределания значений для решения функции на языке C без сжатия</vt:lpstr>
      <vt:lpstr>Гистограмма распределания значений для решения функции на языке C средняя степень сжатия</vt:lpstr>
      <vt:lpstr>Гистограмма распределания значений  для решения функции на языке C высокая степень сжатия </vt:lpstr>
      <vt:lpstr>Гистограмма распределания значений для решения функции на языке C# без сжатия</vt:lpstr>
      <vt:lpstr>Гистограмма распределания значений для решения функции на языке C# средняя степень сжатия</vt:lpstr>
      <vt:lpstr>Гистограмма распределания значений  для решения функции на языке C# высокая степень сжатия </vt:lpstr>
      <vt:lpstr>Гистограмма распределания значений для решения функции на языке Python без сжатия</vt:lpstr>
      <vt:lpstr>Гистограмма распределания значений для решения функции на языке Python средняя степень сжатия</vt:lpstr>
      <vt:lpstr>Гистограмма распределания значений  для решения функции на языке Python высокая степень сжатия </vt:lpstr>
      <vt:lpstr>Гистограмма распределания значений изображения обложки книги в формате jpg </vt:lpstr>
      <vt:lpstr>Гистограмма распределания значений изображения обложки книги сжатая в формате jpg </vt:lpstr>
      <vt:lpstr>Гистограмма распределания значений изображения обложки книги в формате png </vt:lpstr>
      <vt:lpstr>Гистограмма распределания значений изображения обложки книги сжатая в формате png </vt:lpstr>
      <vt:lpstr>Гистограмма распределания значений сказки «Каша из топора».doc </vt:lpstr>
      <vt:lpstr>Гистограмма распределания значений сжатой сказки «Каша из топора».doc </vt:lpstr>
      <vt:lpstr>Гистограмма распределания значений сказки «Каша из топора».txt </vt:lpstr>
      <vt:lpstr>Гистограмма распределания значений сжатой сказки «Каша из топора».txt </vt:lpstr>
      <vt:lpstr>Гистограмма распределания значений Таблички.xlsx</vt:lpstr>
      <vt:lpstr>Гистограмма распределания значений сжатой  Таблички.xlsx</vt:lpstr>
      <vt:lpstr>Гистограмма распределания значений Таблички.xlsb</vt:lpstr>
      <vt:lpstr>Гистограмма распределания значений сжатой  Таблички.xlsb</vt:lpstr>
      <vt:lpstr>Гистограмма распределания значений звука.wav</vt:lpstr>
      <vt:lpstr>Гистограмма распределания значений сжатого звука.wav</vt:lpstr>
      <vt:lpstr>Гистограмма распределания значений звука.mp3</vt:lpstr>
      <vt:lpstr>Гистограмма распределания значений сжатого звука.mp3</vt:lpstr>
      <vt:lpstr>Таблица</vt:lpstr>
      <vt:lpstr>Вывод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Вероника Зверь</dc:creator>
  <cp:lastModifiedBy>Буланый Сергей Евгеньевич</cp:lastModifiedBy>
  <cp:revision>53</cp:revision>
  <dcterms:created xsi:type="dcterms:W3CDTF">2026-02-11T19:46:24Z</dcterms:created>
  <dcterms:modified xsi:type="dcterms:W3CDTF">2026-02-12T15:00:18Z</dcterms:modified>
</cp:coreProperties>
</file>