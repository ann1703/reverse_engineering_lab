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sldIdLst>
    <p:sldId id="256" r:id="rId2"/>
    <p:sldId id="290" r:id="rId3"/>
    <p:sldId id="317" r:id="rId4"/>
    <p:sldId id="334" r:id="rId5"/>
    <p:sldId id="336" r:id="rId6"/>
    <p:sldId id="331" r:id="rId7"/>
    <p:sldId id="332" r:id="rId8"/>
    <p:sldId id="333" r:id="rId9"/>
    <p:sldId id="318" r:id="rId10"/>
    <p:sldId id="319" r:id="rId11"/>
    <p:sldId id="320" r:id="rId12"/>
    <p:sldId id="321" r:id="rId13"/>
    <p:sldId id="322" r:id="rId14"/>
    <p:sldId id="323" r:id="rId15"/>
    <p:sldId id="324" r:id="rId16"/>
    <p:sldId id="325" r:id="rId17"/>
    <p:sldId id="326" r:id="rId18"/>
    <p:sldId id="327" r:id="rId19"/>
    <p:sldId id="328" r:id="rId20"/>
    <p:sldId id="329" r:id="rId21"/>
    <p:sldId id="330" r:id="rId22"/>
    <p:sldId id="279" r:id="rId23"/>
    <p:sldId id="280" r:id="rId24"/>
    <p:sldId id="275" r:id="rId2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653" autoAdjust="0"/>
    <p:restoredTop sz="94660"/>
  </p:normalViewPr>
  <p:slideViewPr>
    <p:cSldViewPr snapToGrid="0">
      <p:cViewPr>
        <p:scale>
          <a:sx n="66" d="100"/>
          <a:sy n="66" d="100"/>
        </p:scale>
        <p:origin x="763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B5F127-EF7C-4D16-B460-0CE257C7E17B}" type="datetimeFigureOut">
              <a:rPr lang="ru-RU" smtClean="0"/>
              <a:t>26.02.2026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35BB2A-7750-4F15-B86C-FEB94FE9D7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2895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35BB2A-7750-4F15-B86C-FEB94FE9D7B7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96876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5DC51-E9B1-76F0-DFA6-F7DAED40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FC418A8-B723-98E8-3DC6-64F8AA89B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C28CB4F-408D-5C06-1282-AEF2781ED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53592D2-5CF2-EB48-2F72-3026CD98D2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35BB2A-7750-4F15-B86C-FEB94FE9D7B7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9663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E719D-693B-4A77-84DB-9E8C1D23A8C1}" type="datetime1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5227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E3134-B3F2-4317-B871-B88FB4A00131}" type="datetime1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4079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788A9-13F1-4F40-8019-093569E6E3EF}" type="datetime1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7725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B97AA0-6125-4875-A987-6C4FF4B5CE30}" type="datetime1">
              <a:rPr lang="ru-RU" smtClean="0"/>
              <a:t>26.02.2026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388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90800-C1F3-441D-AFE3-704E247D4095}" type="datetime1">
              <a:rPr lang="ru-RU" smtClean="0"/>
              <a:t>26.02.2026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2124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DE1E7-2FCF-4D15-B644-3CE192867603}" type="datetime1">
              <a:rPr lang="ru-RU" smtClean="0"/>
              <a:t>26.02.2026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6182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9D6F9-9522-4E0E-B764-D722A322B6E0}" type="datetime1">
              <a:rPr lang="ru-RU" smtClean="0"/>
              <a:t>26.02.2026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2940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0F34C-B6D8-4D1D-84D8-54213C78C279}" type="datetime1">
              <a:rPr lang="ru-RU" smtClean="0"/>
              <a:t>26.02.2026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5160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59A17E-64F2-46E8-BAC1-CFD826F028E0}" type="datetime1">
              <a:rPr lang="ru-RU" smtClean="0"/>
              <a:t>26.02.2026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30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815C9-C4A9-460B-9F3D-D5B099F812AA}" type="datetime1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0063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ECA59-152E-4437-ADB5-E4AD6E9B3A47}" type="datetime1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9809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A24392-178F-4638-9B43-936544BC9B5A}" type="datetime1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C8C628-6975-4CC2-A0F1-47F458287F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3193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 descr="Изображение выглядит как зарисовка, диаграмма, Параллельный, рисуно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7434D5A-C08D-EBA0-4253-19400E1EC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6242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2568ABC-F9C9-7674-7AC8-046D01A49FFB}"/>
              </a:ext>
            </a:extLst>
          </p:cNvPr>
          <p:cNvSpPr txBox="1"/>
          <p:nvPr/>
        </p:nvSpPr>
        <p:spPr>
          <a:xfrm>
            <a:off x="706581" y="2126746"/>
            <a:ext cx="482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Лабораторная №2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03276-700E-14FF-D019-58105A8A7754}"/>
              </a:ext>
            </a:extLst>
          </p:cNvPr>
          <p:cNvSpPr txBox="1"/>
          <p:nvPr/>
        </p:nvSpPr>
        <p:spPr>
          <a:xfrm>
            <a:off x="626302" y="5086198"/>
            <a:ext cx="519537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6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Выполнили – студ. Буланый Сергей Евгеньевич, ТКИ-341, студ. Дышлевая Анна Сергеевна, ТКИ-341</a:t>
            </a:r>
          </a:p>
          <a:p>
            <a:pPr algn="just"/>
            <a:r>
              <a:rPr lang="ru-RU" sz="16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Проверили - д. т. н., проф. Сидоренко Валентина Геннадьевна, д. к. т. н. Сафронов Антон Игоревич </a:t>
            </a:r>
          </a:p>
        </p:txBody>
      </p:sp>
    </p:spTree>
    <p:extLst>
      <p:ext uri="{BB962C8B-B14F-4D97-AF65-F5344CB8AC3E}">
        <p14:creationId xmlns:p14="http://schemas.microsoft.com/office/powerpoint/2010/main" val="501586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D6571-8C8E-94A3-FECD-1B5BCCAAD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C99A6E-7689-0B00-C6AE-78C390221F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1217" y="153468"/>
            <a:ext cx="3484880" cy="675323"/>
          </a:xfrm>
        </p:spPr>
        <p:txBody>
          <a:bodyPr>
            <a:normAutofit/>
          </a:bodyPr>
          <a:lstStyle/>
          <a:p>
            <a:r>
              <a:rPr lang="ru-RU" sz="4000" dirty="0"/>
              <a:t>Что мы делали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4F8A057-7B0B-3594-A171-58AD77A767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2337" y="1086298"/>
            <a:ext cx="11535503" cy="5265723"/>
          </a:xfrm>
        </p:spPr>
        <p:txBody>
          <a:bodyPr>
            <a:noAutofit/>
          </a:bodyPr>
          <a:lstStyle/>
          <a:p>
            <a:pPr algn="l"/>
            <a:r>
              <a:rPr lang="ru-RU" sz="1700" dirty="0"/>
              <a:t>Мы взяли программу на языке C, которая вычисляет заданную функцию: </a:t>
            </a:r>
          </a:p>
          <a:p>
            <a:pPr algn="l"/>
            <a:endParaRPr lang="ru-RU" sz="1700" dirty="0"/>
          </a:p>
          <a:p>
            <a:pPr algn="l"/>
            <a:endParaRPr lang="ru-RU" sz="1700" dirty="0"/>
          </a:p>
          <a:p>
            <a:pPr algn="l"/>
            <a:r>
              <a:rPr lang="ru-RU" sz="1700" dirty="0"/>
              <a:t>С помощью искусственного интеллекта мы выполнили трансляцию исходного кода с языка C на языки C# и Python. Далее мы провели анализ исходных файлов. Каждый файл был открыт в HEX-редакторе «010 Editor»: изучена структура, построены гистограммы распределения байтов и энтропии каждого файла.  Следующим этапом стала «упаковка исполняемых файлов» двумя упаковщиками: «UPX» и «MPRESS». После упаковки мы провели анализ: построили гистограммы и рассчитали энтропию для всех 6 файлов. Результаты показали, что UPX продемонстрировал выдающуюся эффективность. MPRESS показал не впечатляющие результаты.</a:t>
            </a:r>
          </a:p>
          <a:p>
            <a:pPr algn="l"/>
            <a:r>
              <a:rPr lang="ru-RU" sz="1700" dirty="0"/>
              <a:t>Параллельно мы провели «исследование энтропии различных форматов данных». Были взяты:</a:t>
            </a:r>
          </a:p>
          <a:p>
            <a:pPr algn="l"/>
            <a:r>
              <a:rPr lang="ru-RU" sz="1700" kern="100" dirty="0"/>
              <a:t>текстовые файлы (.</a:t>
            </a:r>
            <a:r>
              <a:rPr lang="ru-RU" sz="1700" kern="100" dirty="0" err="1"/>
              <a:t>txt</a:t>
            </a:r>
            <a:r>
              <a:rPr lang="ru-RU" sz="1700" kern="100" dirty="0"/>
              <a:t>, .</a:t>
            </a:r>
            <a:r>
              <a:rPr lang="ru-RU" sz="1700" kern="100" dirty="0" err="1"/>
              <a:t>docx</a:t>
            </a:r>
            <a:r>
              <a:rPr lang="ru-RU" sz="1700" kern="100" dirty="0"/>
              <a:t>) с содержанием сказки «Каша из топора»;</a:t>
            </a:r>
          </a:p>
          <a:p>
            <a:pPr algn="l"/>
            <a:r>
              <a:rPr lang="ru-RU" sz="1700" kern="100" dirty="0"/>
              <a:t>графические файлы (.</a:t>
            </a:r>
            <a:r>
              <a:rPr lang="ru-RU" sz="1700" kern="100" dirty="0" err="1"/>
              <a:t>jpg</a:t>
            </a:r>
            <a:r>
              <a:rPr lang="ru-RU" sz="1700" kern="100" dirty="0"/>
              <a:t>, .</a:t>
            </a:r>
            <a:r>
              <a:rPr lang="ru-RU" sz="1700" kern="100" dirty="0" err="1"/>
              <a:t>png</a:t>
            </a:r>
            <a:r>
              <a:rPr lang="ru-RU" sz="1700" kern="100" dirty="0"/>
              <a:t>) — обложка книги;</a:t>
            </a:r>
          </a:p>
          <a:p>
            <a:pPr algn="l"/>
            <a:r>
              <a:rPr lang="ru-RU" sz="1700" kern="100" dirty="0"/>
              <a:t>табличные файлы (.</a:t>
            </a:r>
            <a:r>
              <a:rPr lang="ru-RU" sz="1700" kern="100" dirty="0" err="1"/>
              <a:t>xlsx</a:t>
            </a:r>
            <a:r>
              <a:rPr lang="ru-RU" sz="1700" kern="100" dirty="0"/>
              <a:t>, .</a:t>
            </a:r>
            <a:r>
              <a:rPr lang="ru-RU" sz="1700" kern="100" dirty="0" err="1"/>
              <a:t>xlsb</a:t>
            </a:r>
            <a:r>
              <a:rPr lang="ru-RU" sz="1700" kern="100" dirty="0"/>
              <a:t>);</a:t>
            </a:r>
          </a:p>
          <a:p>
            <a:pPr algn="l"/>
            <a:r>
              <a:rPr lang="ru-RU" sz="1700" kern="100" dirty="0"/>
              <a:t>аудиофайлы (.</a:t>
            </a:r>
            <a:r>
              <a:rPr lang="ru-RU" sz="1700" kern="100" dirty="0" err="1"/>
              <a:t>wav</a:t>
            </a:r>
            <a:r>
              <a:rPr lang="ru-RU" sz="1700" kern="100" dirty="0"/>
              <a:t>, .mp3).</a:t>
            </a:r>
          </a:p>
          <a:p>
            <a:pPr algn="l"/>
            <a:r>
              <a:rPr lang="ru-RU" sz="1700" dirty="0"/>
              <a:t>Для каждого файла построены гистограммы и рассчитана энтропия исходных версий. Затем все файлы были упакованы в ZIP-архивы с максимальным сжатием, после чего для архивов также проведён анализ. Это позволило сравнить влияние архивации на разные типы данных. На заключительном этапе все результаты систематизированы в «сводную таблицу».</a:t>
            </a:r>
          </a:p>
        </p:txBody>
      </p:sp>
      <p:pic>
        <p:nvPicPr>
          <p:cNvPr id="7" name="Рисунок 6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CFC711F-92DF-F8BF-C4E2-6E5314D304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8" name="Номер слайда 6">
            <a:extLst>
              <a:ext uri="{FF2B5EF4-FFF2-40B4-BE49-F238E27FC236}">
                <a16:creationId xmlns:a16="http://schemas.microsoft.com/office/drawing/2014/main" id="{1993628F-BA18-A4D2-B833-DCF64567B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CC8C628-6975-4CC2-A0F1-47F458287FF0}" type="slidenum">
              <a:rPr lang="ru-RU" smtClean="0"/>
              <a:t>2</a:t>
            </a:fld>
            <a:endParaRPr lang="ru-RU"/>
          </a:p>
        </p:txBody>
      </p:sp>
      <p:pic>
        <p:nvPicPr>
          <p:cNvPr id="10" name="Рисунок 9" descr="Изображение выглядит как Шрифт, рукописный текст, текст, каллиграф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C23F852-063D-44C0-A209-469C6D6C9E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337" y="1399353"/>
            <a:ext cx="2772162" cy="819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517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8C305-DA1A-04DD-0672-0736F8667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57694F8-E80C-4BCB-689A-D4346E5D19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676019D-DA21-0136-3CF5-FF7778008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3</a:t>
            </a:fld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A7125B-C3F8-C679-E6E9-D1A1CAB245E7}"/>
              </a:ext>
            </a:extLst>
          </p:cNvPr>
          <p:cNvSpPr txBox="1"/>
          <p:nvPr/>
        </p:nvSpPr>
        <p:spPr>
          <a:xfrm>
            <a:off x="232598" y="204026"/>
            <a:ext cx="81102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 2022 clang_x64_debug Radare2</a:t>
            </a:r>
            <a:r>
              <a:rPr lang="ru-RU" sz="2800" dirty="0"/>
              <a:t>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PDF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2800" dirty="0"/>
          </a:p>
        </p:txBody>
      </p:sp>
      <p:pic>
        <p:nvPicPr>
          <p:cNvPr id="3" name="Рисунок 2" descr="Изображение выглядит как текст, снимок экрана, Красочност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E7F0725-0A86-2992-D947-F5A5EA070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8791"/>
            <a:ext cx="7324372" cy="60292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1A6358-030C-1F3C-79DA-8F43A26D84C8}"/>
              </a:ext>
            </a:extLst>
          </p:cNvPr>
          <p:cNvSpPr txBox="1"/>
          <p:nvPr/>
        </p:nvSpPr>
        <p:spPr>
          <a:xfrm>
            <a:off x="7543800" y="1238080"/>
            <a:ext cx="46482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Print </a:t>
            </a:r>
            <a:r>
              <a:rPr lang="ru-RU" sz="2000" b="1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Disassembly</a:t>
            </a:r>
            <a:r>
              <a:rPr lang="ru-RU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b="1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и используется для дизассемблирования текущей функции. Эта команда позволяет увидеть ассемблерный код функции, включая инструкции, метки, переходы и другую полезную информацию.</a:t>
            </a:r>
            <a:br>
              <a:rPr lang="ru-RU" sz="2000" dirty="0"/>
            </a:br>
            <a:r>
              <a:rPr lang="ru-RU" altLang="ru-RU" sz="2000" b="1" dirty="0">
                <a:solidFill>
                  <a:srgbClr val="40404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Что можно увидеть в выводе </a:t>
            </a:r>
            <a:r>
              <a:rPr lang="ru-RU" altLang="ru-RU" sz="2000" b="1" dirty="0" err="1">
                <a:solidFill>
                  <a:srgbClr val="40404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pdf</a:t>
            </a:r>
            <a:endParaRPr lang="ru-RU" altLang="ru-RU" sz="2000" b="1" dirty="0">
              <a:solidFill>
                <a:srgbClr val="40404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2000" b="1" dirty="0">
                <a:solidFill>
                  <a:srgbClr val="40404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Адреса инструкций</a:t>
            </a:r>
            <a:r>
              <a:rPr lang="ru-RU" altLang="ru-RU" sz="2000" dirty="0">
                <a:solidFill>
                  <a:srgbClr val="40404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Каждая строка начинается с адреса инструкции в памяти.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2000" b="1" dirty="0" err="1">
                <a:solidFill>
                  <a:srgbClr val="40404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Опкоды</a:t>
            </a:r>
            <a:r>
              <a:rPr lang="ru-RU" altLang="ru-RU" sz="2000" dirty="0">
                <a:solidFill>
                  <a:srgbClr val="40404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Шестнадцатеричное представление байтов инструкций.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2000" b="1" dirty="0">
                <a:solidFill>
                  <a:srgbClr val="40404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Ассемблерные инструкции</a:t>
            </a:r>
            <a:r>
              <a:rPr lang="ru-RU" altLang="ru-RU" sz="2000" dirty="0">
                <a:solidFill>
                  <a:srgbClr val="40404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Дизассемблированный код функции.</a:t>
            </a:r>
          </a:p>
        </p:txBody>
      </p:sp>
    </p:spTree>
    <p:extLst>
      <p:ext uri="{BB962C8B-B14F-4D97-AF65-F5344CB8AC3E}">
        <p14:creationId xmlns:p14="http://schemas.microsoft.com/office/powerpoint/2010/main" val="2519319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69DAA-13CA-2E6D-9FAC-BA8593526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DA73134-1ECD-B6F3-DFC1-4EFA5CCBD3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07ECCBC-9188-2351-42EB-6711DA5C6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4</a:t>
            </a:fld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AF527F-301C-2353-BA4B-14A79D46B311}"/>
              </a:ext>
            </a:extLst>
          </p:cNvPr>
          <p:cNvSpPr txBox="1"/>
          <p:nvPr/>
        </p:nvSpPr>
        <p:spPr>
          <a:xfrm>
            <a:off x="232598" y="204026"/>
            <a:ext cx="81102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 2022 clang_x64_debug Radare2</a:t>
            </a:r>
            <a:r>
              <a:rPr lang="ru-RU" sz="2800" dirty="0"/>
              <a:t>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4FEC2C-599C-6A1C-E0B3-063DD14BA544}"/>
              </a:ext>
            </a:extLst>
          </p:cNvPr>
          <p:cNvSpPr txBox="1"/>
          <p:nvPr/>
        </p:nvSpPr>
        <p:spPr>
          <a:xfrm>
            <a:off x="7426960" y="2469186"/>
            <a:ext cx="403352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(Print 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Decompiled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Code)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используется для вывода псевдокода,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декомпилированного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из ассемблерного кода. Это полезно для анализа сложных функций, так как псевдокод легче читать, чем ассемблерный код.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Рисунок 7" descr="Изображение выглядит как текст, снимок экрана, Шрифт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6D3802B-34F4-7737-AAB0-B713858E6B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195" y="931272"/>
            <a:ext cx="4688651" cy="5611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484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6E5A1-40F9-E5A3-7F5D-1B6B9EFB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BD46BA7-97E2-E421-52C6-DFA50FC1B4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52AFAA8-BC44-8437-4069-1F3652453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5</a:t>
            </a:fld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99F3D9-ED32-0B53-ABBF-60043A08911C}"/>
              </a:ext>
            </a:extLst>
          </p:cNvPr>
          <p:cNvSpPr txBox="1"/>
          <p:nvPr/>
        </p:nvSpPr>
        <p:spPr>
          <a:xfrm>
            <a:off x="232598" y="204026"/>
            <a:ext cx="81102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 2022 clang_x64_debug Radare2</a:t>
            </a:r>
            <a:r>
              <a:rPr lang="ru-RU" sz="2800" dirty="0"/>
              <a:t>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PDI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DE01C-6476-4240-2E27-91A7E1F9EA61}"/>
              </a:ext>
            </a:extLst>
          </p:cNvPr>
          <p:cNvSpPr txBox="1"/>
          <p:nvPr/>
        </p:nvSpPr>
        <p:spPr>
          <a:xfrm>
            <a:off x="8205248" y="1992132"/>
            <a:ext cx="403352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(Print 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Disassembly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Information)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используется для вывода информации о дизассемблированном коде. Она предоставляет детали о текущей инструкции или блоке кода, такие как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опкоды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смещения, размеры инструкций и т.д.</a:t>
            </a:r>
          </a:p>
        </p:txBody>
      </p:sp>
      <p:pic>
        <p:nvPicPr>
          <p:cNvPr id="11" name="Рисунок 10" descr="Изображение выглядит как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4C6B5AA-79A2-5EF3-368D-A021E3B71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882" y="958501"/>
            <a:ext cx="3613439" cy="5279739"/>
          </a:xfrm>
          <a:prstGeom prst="rect">
            <a:avLst/>
          </a:prstGeom>
        </p:spPr>
      </p:pic>
      <p:pic>
        <p:nvPicPr>
          <p:cNvPr id="14" name="Рисунок 13" descr="Изображение выглядит как текст, снимок экрана, меню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13A5937-D205-7128-3D1E-60F99F326E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2725" y="958500"/>
            <a:ext cx="3985119" cy="5279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320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84B7C-B66A-7E58-0725-3FE056B4C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ED20834-87DC-8BC7-CD19-F700589758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89A5DA6-719E-D821-2014-CA98A83E6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6</a:t>
            </a:fld>
            <a:endParaRPr lang="ru-RU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CF9D830C-C0D3-6989-E66D-835EA8E064CE}"/>
              </a:ext>
            </a:extLst>
          </p:cNvPr>
          <p:cNvSpPr txBox="1">
            <a:spLocks/>
          </p:cNvSpPr>
          <p:nvPr/>
        </p:nvSpPr>
        <p:spPr>
          <a:xfrm>
            <a:off x="116159" y="174199"/>
            <a:ext cx="8198626" cy="7367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 2022 clang_x64_debug Radare2</a:t>
            </a:r>
            <a:r>
              <a:rPr lang="ru-RU" sz="2800" dirty="0"/>
              <a:t>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VV-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визуальное представление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(graph)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0.1 </a:t>
            </a:r>
          </a:p>
        </p:txBody>
      </p:sp>
      <p:pic>
        <p:nvPicPr>
          <p:cNvPr id="10" name="Рисунок 9" descr="Изображение выглядит как текст, снимок экрана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9AEFD8E-DDAA-A115-C6DE-34897B1E1F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657" y="828791"/>
            <a:ext cx="4543586" cy="5850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841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53F38-95FD-B200-0208-04B6908D0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4DC368E-932C-AC05-BCF1-169CECF3A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D2A7E2F-A39D-F6F4-96B0-8C06F3829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7</a:t>
            </a:fld>
            <a:endParaRPr lang="ru-RU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FD1C289E-F075-E5E0-97F6-E08EACEFC16D}"/>
              </a:ext>
            </a:extLst>
          </p:cNvPr>
          <p:cNvSpPr txBox="1">
            <a:spLocks/>
          </p:cNvSpPr>
          <p:nvPr/>
        </p:nvSpPr>
        <p:spPr>
          <a:xfrm>
            <a:off x="116159" y="174199"/>
            <a:ext cx="8198626" cy="7367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 2022 clang_x64_debug Radare2</a:t>
            </a:r>
            <a:r>
              <a:rPr lang="ru-RU" sz="2800" dirty="0"/>
              <a:t>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VV-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визуальное представление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(graph)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0.2</a:t>
            </a:r>
          </a:p>
        </p:txBody>
      </p:sp>
      <p:pic>
        <p:nvPicPr>
          <p:cNvPr id="13" name="Рисунок 12" descr="Изображение выглядит как текст, снимок экрана, диаграмм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EB0D968-39B8-902D-41A6-D3FF37E9B6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684" y="1085138"/>
            <a:ext cx="6253276" cy="4481822"/>
          </a:xfrm>
          <a:prstGeom prst="rect">
            <a:avLst/>
          </a:prstGeom>
        </p:spPr>
      </p:pic>
      <p:pic>
        <p:nvPicPr>
          <p:cNvPr id="16" name="Рисунок 15" descr="Изображение выглядит как текст, снимок экрана, дисплей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E97E7DB-CA00-C1BD-774D-15A8BACE05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452" y="1833168"/>
            <a:ext cx="5226239" cy="4309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942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FFE16-BB9D-AD5B-932A-802AC9D7F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FEF050F-1A7B-7062-6A3B-3C5ABCE71A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91E1AA2-A36D-FB31-8E32-C67B85997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8</a:t>
            </a:fld>
            <a:endParaRPr lang="ru-RU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2B4DB96-04CC-31FD-F489-F6DBC6CD8EBA}"/>
              </a:ext>
            </a:extLst>
          </p:cNvPr>
          <p:cNvSpPr txBox="1">
            <a:spLocks/>
          </p:cNvSpPr>
          <p:nvPr/>
        </p:nvSpPr>
        <p:spPr>
          <a:xfrm>
            <a:off x="116159" y="174199"/>
            <a:ext cx="8198626" cy="7367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 2022 clang_x64_debug Radare2</a:t>
            </a:r>
            <a:r>
              <a:rPr lang="ru-RU" sz="2800" dirty="0"/>
              <a:t> т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аблица импортов</a:t>
            </a:r>
          </a:p>
        </p:txBody>
      </p:sp>
      <p:pic>
        <p:nvPicPr>
          <p:cNvPr id="3" name="Рисунок 2" descr="Изображение выглядит как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616C465-0B0A-E136-46F2-A0C9D38F21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046" y="1246704"/>
            <a:ext cx="11219908" cy="5109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000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0B088-45BE-4056-3530-55A0AC870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E422FCA2-EC89-2AD9-996F-AC7FD00B75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942656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63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A7E5EFC9-DC1F-0DEB-1712-BA50A27ECF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01158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4.79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34D73B9-D475-D8E2-031D-007CDEBAA2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F94E544-056E-0CEE-21E5-E56080F97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9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201FF9F-9167-AA07-1910-478CCE7893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9343943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8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0D71BD55-6F4B-1316-952E-860BE45504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2913429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6.49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DEF3618-0B04-BA08-3E25-A3B6C7932451}"/>
              </a:ext>
            </a:extLst>
          </p:cNvPr>
          <p:cNvSpPr txBox="1"/>
          <p:nvPr/>
        </p:nvSpPr>
        <p:spPr>
          <a:xfrm>
            <a:off x="232598" y="204026"/>
            <a:ext cx="81102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для ре</a:t>
            </a:r>
            <a:r>
              <a:rPr lang="ru-RU" sz="2800" dirty="0"/>
              <a:t>ш</a:t>
            </a:r>
            <a:r>
              <a:rPr lang="en-US" sz="2800" dirty="0"/>
              <a:t>ения функции на языке C </a:t>
            </a:r>
            <a:r>
              <a:rPr lang="ru-RU" sz="2800" dirty="0"/>
              <a:t>без сжатия и высокое сжатие</a:t>
            </a:r>
          </a:p>
        </p:txBody>
      </p:sp>
      <p:pic>
        <p:nvPicPr>
          <p:cNvPr id="12" name="Рисунок 11" descr="Изображение выглядит как текст, диаграмма, снимок экрана, Параллель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E814277-CF76-E817-0F4C-E2E613CF9F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293" y="1168717"/>
            <a:ext cx="7077307" cy="5689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5614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8C9EA-F028-C7E1-CD31-AC26933C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92E48DDC-964E-D4F0-60FB-1BB65BDD28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1126527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151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71CB9700-C2DE-29BF-7BC9-2E86533057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315758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6.07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60EC331-C949-858E-981B-91437B33EE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B2DEC36-EAD3-92C9-8BE3-268EE5A6B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10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BBA68745-C8E4-6E62-70E4-9609B4987B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0810628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64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90D81F30-E839-F8AC-FFEE-D90FC19ABC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7283493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F952779-E2AA-1B34-866A-5EB4B53BF6C2}"/>
              </a:ext>
            </a:extLst>
          </p:cNvPr>
          <p:cNvSpPr txBox="1"/>
          <p:nvPr/>
        </p:nvSpPr>
        <p:spPr>
          <a:xfrm>
            <a:off x="232598" y="204026"/>
            <a:ext cx="81102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Гистограмма </a:t>
            </a:r>
            <a:r>
              <a:rPr lang="ru-RU" sz="2800" dirty="0" err="1"/>
              <a:t>распределания</a:t>
            </a:r>
            <a:r>
              <a:rPr lang="ru-RU" sz="2800" dirty="0"/>
              <a:t> значений</a:t>
            </a:r>
            <a:r>
              <a:rPr lang="en-US" sz="2800" dirty="0"/>
              <a:t> </a:t>
            </a:r>
            <a:r>
              <a:rPr 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для ре</a:t>
            </a:r>
            <a:r>
              <a:rPr lang="ru-RU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ш</a:t>
            </a:r>
            <a:r>
              <a:rPr 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ения функции на языке C# </a:t>
            </a:r>
            <a:r>
              <a:rPr lang="ru-RU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без сжатия и среднее сжатие</a:t>
            </a:r>
            <a:endParaRPr lang="ru-RU" sz="2800" dirty="0"/>
          </a:p>
        </p:txBody>
      </p:sp>
      <p:pic>
        <p:nvPicPr>
          <p:cNvPr id="2" name="Рисунок 1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F3CA912-7DE9-F7A6-2C94-2F49C1BEBA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7706"/>
            <a:ext cx="8267450" cy="2108200"/>
          </a:xfrm>
          <a:prstGeom prst="rect">
            <a:avLst/>
          </a:prstGeom>
        </p:spPr>
      </p:pic>
      <p:pic>
        <p:nvPicPr>
          <p:cNvPr id="12" name="Рисунок 11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E6DDB5E-7ADA-3B88-8DF1-FEBECD0D57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5621" y="4248150"/>
            <a:ext cx="8376379" cy="210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196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CC94E-7AB7-3CEB-DE53-F6AC34D20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F78BBC2-3BF6-CB99-14E8-8BE1C62723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7915695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151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4602ABFB-5309-1A73-2EE2-3F4BD4E92A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15076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6.07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A5310EE-E3B5-C7BF-4C00-D9080434B8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D7F43E6-7139-0C66-2818-F426F7B91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11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84536188-E9E3-CBBF-4B29-4851A92C4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16895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58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920655FB-1D58-82ED-AF64-83BCEAAD7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1725363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CF16744-9E79-94C0-A53E-7726B486981D}"/>
              </a:ext>
            </a:extLst>
          </p:cNvPr>
          <p:cNvSpPr txBox="1"/>
          <p:nvPr/>
        </p:nvSpPr>
        <p:spPr>
          <a:xfrm>
            <a:off x="232598" y="204026"/>
            <a:ext cx="81102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для ре</a:t>
            </a:r>
            <a:r>
              <a:rPr lang="ru-RU" sz="2800" dirty="0"/>
              <a:t>ш</a:t>
            </a:r>
            <a:r>
              <a:rPr lang="en-US" sz="2800" dirty="0"/>
              <a:t>ения функции на языке C# </a:t>
            </a:r>
            <a:r>
              <a:rPr lang="ru-RU" sz="2800" dirty="0"/>
              <a:t>без сжатия и высокое сжатие</a:t>
            </a:r>
          </a:p>
        </p:txBody>
      </p:sp>
      <p:pic>
        <p:nvPicPr>
          <p:cNvPr id="2" name="Рисунок 1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A593963-A064-B21A-8030-E05CC4ADDE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7706"/>
            <a:ext cx="8267450" cy="2108200"/>
          </a:xfrm>
          <a:prstGeom prst="rect">
            <a:avLst/>
          </a:prstGeom>
        </p:spPr>
      </p:pic>
      <p:pic>
        <p:nvPicPr>
          <p:cNvPr id="4" name="Рисунок 3" descr="Изображение выглядит как Мультимедийное программное обеспечение, программное обеспечение, Графическое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B576309-1C3C-E0F3-FA12-A4018CB761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9639" y="4272256"/>
            <a:ext cx="8402361" cy="2119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5438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5C08D-42C4-5DCE-FDB2-2D0DA53E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EF4D3A5-B853-519A-58FB-23E8194D3A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2146433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7 870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00E2114D-BBBB-8190-6121-B1EFA8FBDE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363232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C418FEA-5435-8688-E3AB-F9D6A5D3C1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B26FDED-F4E3-457F-1820-C9B8B52A7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2384B13-88AC-AC6A-936B-F82C8D121C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6741538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7 708 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E7ABDE26-8117-1B93-3CFF-71796D298A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2596621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BC8CD62-22BA-1BE6-FF20-A21E71800F4C}"/>
              </a:ext>
            </a:extLst>
          </p:cNvPr>
          <p:cNvSpPr txBox="1"/>
          <p:nvPr/>
        </p:nvSpPr>
        <p:spPr>
          <a:xfrm>
            <a:off x="232597" y="204026"/>
            <a:ext cx="860672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для ре</a:t>
            </a:r>
            <a:r>
              <a:rPr lang="ru-RU" sz="2800" dirty="0"/>
              <a:t>ш</a:t>
            </a:r>
            <a:r>
              <a:rPr lang="en-US" sz="2800" dirty="0"/>
              <a:t>ения функции на языке Python </a:t>
            </a:r>
            <a:r>
              <a:rPr lang="ru-RU" sz="2800" dirty="0"/>
              <a:t>без сжатия и среднее сжатие</a:t>
            </a:r>
          </a:p>
        </p:txBody>
      </p:sp>
      <p:pic>
        <p:nvPicPr>
          <p:cNvPr id="3" name="Рисунок 2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76D8819-DF52-0A0C-F657-5A621A8C82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02979"/>
            <a:ext cx="8636000" cy="2162996"/>
          </a:xfrm>
          <a:prstGeom prst="rect">
            <a:avLst/>
          </a:prstGeom>
        </p:spPr>
      </p:pic>
      <p:pic>
        <p:nvPicPr>
          <p:cNvPr id="12" name="Рисунок 11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3D5FD5D-8CE9-0708-0472-7F4C10A64F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00" y="4177421"/>
            <a:ext cx="8636000" cy="2178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21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DC63E-5687-5FA3-DC82-757CEC645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9B3AB762-A1D9-6608-AF11-687CE7241C88}"/>
              </a:ext>
            </a:extLst>
          </p:cNvPr>
          <p:cNvGraphicFramePr>
            <a:graphicFrameLocks noGrp="1"/>
          </p:cNvGraphicFramePr>
          <p:nvPr/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7 870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ECADB00A-E2ED-5667-A61E-CA9277913919}"/>
              </a:ext>
            </a:extLst>
          </p:cNvPr>
          <p:cNvGraphicFramePr>
            <a:graphicFrameLocks noGrp="1"/>
          </p:cNvGraphicFramePr>
          <p:nvPr/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E9A5B68-7C85-1FBA-1EF8-BCBC7CE0A3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01DAD38-CD52-889C-F9EA-49957C8D7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645561D-5039-B5F0-C71E-706F5A58A1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7454990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7 728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7F61F671-5E05-BD20-1699-FBC569FCD2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3186244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7662473-517C-12C2-8164-C0C8BA49F20A}"/>
              </a:ext>
            </a:extLst>
          </p:cNvPr>
          <p:cNvSpPr txBox="1"/>
          <p:nvPr/>
        </p:nvSpPr>
        <p:spPr>
          <a:xfrm>
            <a:off x="232597" y="204026"/>
            <a:ext cx="860672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для ре</a:t>
            </a:r>
            <a:r>
              <a:rPr lang="ru-RU" sz="2800" dirty="0"/>
              <a:t>ш</a:t>
            </a:r>
            <a:r>
              <a:rPr lang="en-US" sz="2800" dirty="0"/>
              <a:t>ения функции на языке Python </a:t>
            </a:r>
            <a:r>
              <a:rPr lang="ru-RU" sz="2800" dirty="0"/>
              <a:t>без сжатия и среднее сжатие</a:t>
            </a:r>
          </a:p>
        </p:txBody>
      </p:sp>
      <p:pic>
        <p:nvPicPr>
          <p:cNvPr id="3" name="Рисунок 2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5D80A31-49E4-FE16-6198-E24D1AA7B6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02979"/>
            <a:ext cx="8636000" cy="2162996"/>
          </a:xfrm>
          <a:prstGeom prst="rect">
            <a:avLst/>
          </a:prstGeom>
        </p:spPr>
      </p:pic>
      <p:pic>
        <p:nvPicPr>
          <p:cNvPr id="2" name="Рисунок 1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A05F3B0-0660-196D-BC4A-6AA47F41DB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1" y="4104214"/>
            <a:ext cx="8636000" cy="2180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2766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EF9CA-D7BE-49E5-2F16-6D5F93AB9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E8B97E1D-7C40-D674-A766-1BD510F1BA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024485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73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138E18FB-F347-270D-116B-3E99839544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9856514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36F0575-4D35-5C05-CA72-4FA21A9844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5FE0626-13F9-1A33-9214-3204925D5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FBAE33F-0CEE-DD15-224A-2110B298A2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914952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73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73A89171-14E4-3559-0100-C807D4988F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587389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48307A4-8A0E-0D76-9770-AA477F3B1E62}"/>
              </a:ext>
            </a:extLst>
          </p:cNvPr>
          <p:cNvSpPr txBox="1"/>
          <p:nvPr/>
        </p:nvSpPr>
        <p:spPr>
          <a:xfrm>
            <a:off x="232597" y="204026"/>
            <a:ext cx="860672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</a:t>
            </a:r>
            <a:r>
              <a:rPr lang="ru-RU" sz="2800" dirty="0"/>
              <a:t>изображения обложки книги в формате</a:t>
            </a:r>
            <a:r>
              <a:rPr lang="en-US" sz="2800" dirty="0"/>
              <a:t> jpg</a:t>
            </a:r>
            <a:r>
              <a:rPr lang="ru-RU" sz="2800" dirty="0"/>
              <a:t>  и сжатая </a:t>
            </a:r>
            <a:r>
              <a:rPr lang="en-US" sz="2800" dirty="0"/>
              <a:t>jpg</a:t>
            </a:r>
            <a:endParaRPr lang="ru-RU" sz="2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2A3BF04-D17A-2C3E-3CA1-32985ED418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7533"/>
            <a:ext cx="8622485" cy="1907280"/>
          </a:xfrm>
          <a:prstGeom prst="rect">
            <a:avLst/>
          </a:prstGeom>
        </p:spPr>
      </p:pic>
      <p:pic>
        <p:nvPicPr>
          <p:cNvPr id="12" name="Рисунок 11" descr="Изображение выглядит как снимок экрана, Графическое программное обеспечение, Мультимедийное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CAAA2A3-D311-8E37-1FF0-54FAB971D9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00" y="4347122"/>
            <a:ext cx="8610600" cy="1999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4624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E17FE-EEB8-5B11-0353-A5159AA27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2F0DAE95-BCF4-4389-4616-7C334B6F34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2104887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37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3C0F98C7-784A-615C-DEAA-A38AF5D793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9892457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2314C84-6BC8-9268-3492-E0AFF86707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25272C8-E6CE-5CA5-9D7A-6AC00DBD4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5EF8CA67-2982-DA13-75D9-0F9ED53F33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9943949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38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B50541E0-2F52-7098-25CC-645DB831B2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315482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7663996-E997-4646-382D-BC13C52366EC}"/>
              </a:ext>
            </a:extLst>
          </p:cNvPr>
          <p:cNvSpPr txBox="1"/>
          <p:nvPr/>
        </p:nvSpPr>
        <p:spPr>
          <a:xfrm>
            <a:off x="232597" y="204026"/>
            <a:ext cx="860672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</a:t>
            </a:r>
            <a:r>
              <a:rPr lang="ru-RU" sz="2800" dirty="0"/>
              <a:t>изображения обложки книги в формате</a:t>
            </a:r>
            <a:r>
              <a:rPr lang="en-US" sz="2800" dirty="0"/>
              <a:t> png</a:t>
            </a:r>
            <a:r>
              <a:rPr lang="ru-RU" sz="2800" dirty="0"/>
              <a:t>  и сжатая </a:t>
            </a:r>
            <a:r>
              <a:rPr lang="en-US" sz="2800" dirty="0"/>
              <a:t>png</a:t>
            </a:r>
            <a:endParaRPr lang="ru-RU" sz="2800" dirty="0"/>
          </a:p>
        </p:txBody>
      </p:sp>
      <p:pic>
        <p:nvPicPr>
          <p:cNvPr id="2" name="Рисунок 1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5FDADA2-F4F3-3717-09EE-E1222573C2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81822"/>
            <a:ext cx="8610600" cy="2199015"/>
          </a:xfrm>
          <a:prstGeom prst="rect">
            <a:avLst/>
          </a:prstGeom>
        </p:spPr>
      </p:pic>
      <p:pic>
        <p:nvPicPr>
          <p:cNvPr id="3" name="Рисунок 2" descr="Изображение выглядит как Мультимедийное программное обеспечение, Графическое программное обеспечение,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337E38-2D59-AE8D-F22D-6FA6A74958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5170" y="4027852"/>
            <a:ext cx="8666830" cy="208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749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1A946-389A-5DF2-19C3-5D8BECE00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3D22294C-C1B6-A112-2867-C55082DA6B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456796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16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3C405908-2447-09B6-00A9-ABAF26104F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692192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346B777-A157-7533-DAF0-376079085F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E54903D-30DB-2103-7D19-9A161370C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6901E68-267C-C87D-5D6F-DA47050002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124698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13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289F5642-B05D-E222-E147-12059317D5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7806091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DA0703B-E1C1-CFD0-8EC8-683AF4F0FE76}"/>
              </a:ext>
            </a:extLst>
          </p:cNvPr>
          <p:cNvSpPr txBox="1"/>
          <p:nvPr/>
        </p:nvSpPr>
        <p:spPr>
          <a:xfrm>
            <a:off x="232597" y="204026"/>
            <a:ext cx="824084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</a:t>
            </a:r>
            <a:r>
              <a:rPr lang="ru-RU" sz="2800" dirty="0"/>
              <a:t>сказки «Каша из топора»</a:t>
            </a:r>
            <a:r>
              <a:rPr lang="en-US" sz="2800" dirty="0"/>
              <a:t>.doc</a:t>
            </a:r>
            <a:r>
              <a:rPr lang="ru-RU" sz="2800" dirty="0"/>
              <a:t> и сжатая версия</a:t>
            </a:r>
          </a:p>
        </p:txBody>
      </p:sp>
      <p:pic>
        <p:nvPicPr>
          <p:cNvPr id="4" name="Рисунок 3" descr="Изображение выглядит как Мультимедийное программное обеспечение, Графическое программное обеспечение,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6BE4FDE-80F0-6042-F6D5-CEAF1CF962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3" y="1496667"/>
            <a:ext cx="8606727" cy="2201843"/>
          </a:xfrm>
          <a:prstGeom prst="rect">
            <a:avLst/>
          </a:prstGeom>
        </p:spPr>
      </p:pic>
      <p:pic>
        <p:nvPicPr>
          <p:cNvPr id="12" name="Рисунок 11" descr="Изображение выглядит как Мультимедийное программное обеспечение, Графическое программное обеспечение,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5010264-F0C5-A294-5BF1-82382017A3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7527" y="4369412"/>
            <a:ext cx="8614473" cy="190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7244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3FE74-400A-F60F-3C7C-3360BEC50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E692863A-482F-9157-D03C-C640D4892C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4247463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4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5B671C95-036D-CD09-F0ED-A51C1BB179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5842589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4.13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9E6879F-C70E-CBFA-7530-22959CEB75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1A9B2B9-5AAF-0B09-16DE-CEB658431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1D06F8DA-17CC-11DD-EC8A-F91930A394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6579680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4B479F20-9066-182F-6904-B9D71F1A5A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3203491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76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F312EA-07FE-F99F-22D3-8A539459334A}"/>
              </a:ext>
            </a:extLst>
          </p:cNvPr>
          <p:cNvSpPr txBox="1"/>
          <p:nvPr/>
        </p:nvSpPr>
        <p:spPr>
          <a:xfrm>
            <a:off x="232597" y="204026"/>
            <a:ext cx="824084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</a:t>
            </a:r>
            <a:r>
              <a:rPr lang="ru-RU" sz="2800" dirty="0"/>
              <a:t>сказки «Каша из топора»</a:t>
            </a:r>
            <a:r>
              <a:rPr lang="en-US" sz="2800" dirty="0"/>
              <a:t>.txt</a:t>
            </a:r>
            <a:r>
              <a:rPr lang="ru-RU" sz="2800" dirty="0"/>
              <a:t> и сжатая версия</a:t>
            </a:r>
          </a:p>
        </p:txBody>
      </p:sp>
      <p:pic>
        <p:nvPicPr>
          <p:cNvPr id="2" name="Рисунок 1" descr="Изображение выглядит как Мультимедийное программное обеспечение, Графическое программное обеспечение,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87C8441-1133-6A52-607B-2A79CF025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87590"/>
            <a:ext cx="8664027" cy="2201996"/>
          </a:xfrm>
          <a:prstGeom prst="rect">
            <a:avLst/>
          </a:prstGeom>
        </p:spPr>
      </p:pic>
      <p:pic>
        <p:nvPicPr>
          <p:cNvPr id="3" name="Рисунок 2" descr="Изображение выглядит как Мультимедийное программное обеспечение, Графическое программное обеспечение, программное обеспечение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5096618-6256-7DC2-1464-D99ADCF497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0084" y="4272256"/>
            <a:ext cx="8741916" cy="1946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0570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7EE13-8F7E-FD73-F19B-5C01B54D3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3216A875-B00D-187D-B677-88BD6DE14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406376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44EC1434-493D-AFE1-E7BE-F1924D8D29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763213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6.97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6010687-FFB4-EEFA-39F4-3015FCDFF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DBD1347-0E1C-7372-890D-4BC6FAFBE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A1903A75-BF02-7D92-C45B-0BC0469266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4786554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8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0293F087-A077-7A1F-6485-2489EE4601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689864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97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A2FE90B-266E-2A1B-9AFC-C839593FC3DA}"/>
              </a:ext>
            </a:extLst>
          </p:cNvPr>
          <p:cNvSpPr txBox="1"/>
          <p:nvPr/>
        </p:nvSpPr>
        <p:spPr>
          <a:xfrm>
            <a:off x="232597" y="204026"/>
            <a:ext cx="824084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</a:t>
            </a:r>
            <a:r>
              <a:rPr lang="ru-RU" sz="2800" dirty="0"/>
              <a:t>Таблички.</a:t>
            </a:r>
            <a:r>
              <a:rPr lang="en-US" sz="2800" dirty="0"/>
              <a:t>xlsx</a:t>
            </a:r>
            <a:r>
              <a:rPr lang="ru-RU" sz="2800" dirty="0"/>
              <a:t> и сжатая версия</a:t>
            </a:r>
          </a:p>
        </p:txBody>
      </p:sp>
      <p:pic>
        <p:nvPicPr>
          <p:cNvPr id="4" name="Рисунок 3" descr="Изображение выглядит как Мультимедийное программное обеспечение, Графическое программное обеспечение,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76F8710-2D91-0A6B-9663-8F1C94D2B6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0" y="1581822"/>
            <a:ext cx="8623349" cy="1946867"/>
          </a:xfrm>
          <a:prstGeom prst="rect">
            <a:avLst/>
          </a:prstGeom>
        </p:spPr>
      </p:pic>
      <p:pic>
        <p:nvPicPr>
          <p:cNvPr id="12" name="Рисунок 11" descr="Изображение выглядит как Мультимедийное программное обеспечение, Графическое программное обеспечение,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175007A-30CF-DD11-5160-29303E5CDC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531" y="4177970"/>
            <a:ext cx="8635469" cy="2032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1003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E9B0F-0F6A-E391-19D8-324A1A94B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DC4E8F84-4BE7-D208-64EB-54D9E285FD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64638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32C98C8E-B8DD-C280-0699-1A88E8386D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0443341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6.76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36A3CE1-9CAC-134A-7424-07B546AE8E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67F1C07-6BE4-C98A-BF25-F1947B0F4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20BF1346-3174-6D80-B72F-35F64E922F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860923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689B268E-55A0-2F0A-2CBE-331CE2F6123A}"/>
              </a:ext>
            </a:extLst>
          </p:cNvPr>
          <p:cNvGraphicFramePr>
            <a:graphicFrameLocks noGrp="1"/>
          </p:cNvGraphicFramePr>
          <p:nvPr/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7.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97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F842D4-0F07-D3E9-9849-438AF742A0E3}"/>
              </a:ext>
            </a:extLst>
          </p:cNvPr>
          <p:cNvSpPr txBox="1"/>
          <p:nvPr/>
        </p:nvSpPr>
        <p:spPr>
          <a:xfrm>
            <a:off x="232597" y="204026"/>
            <a:ext cx="824084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</a:t>
            </a:r>
            <a:r>
              <a:rPr lang="ru-RU" sz="2800" dirty="0"/>
              <a:t>Таблички.</a:t>
            </a:r>
            <a:r>
              <a:rPr lang="en-US" sz="2800" dirty="0"/>
              <a:t>xlsb</a:t>
            </a:r>
            <a:r>
              <a:rPr lang="ru-RU" sz="2800" dirty="0"/>
              <a:t> и сжатая версия</a:t>
            </a:r>
          </a:p>
        </p:txBody>
      </p:sp>
      <p:pic>
        <p:nvPicPr>
          <p:cNvPr id="2" name="Рисунок 1" descr="Изображение выглядит как Мультимедийное программное обеспечение, Графическое программное обеспечение,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568C050-46F7-4F3B-6C05-91401EC629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0418"/>
            <a:ext cx="8473440" cy="1870287"/>
          </a:xfrm>
          <a:prstGeom prst="rect">
            <a:avLst/>
          </a:prstGeom>
        </p:spPr>
      </p:pic>
      <p:pic>
        <p:nvPicPr>
          <p:cNvPr id="3" name="Рисунок 2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F47FE22-693B-1C38-DBC4-CAA0557C19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4876" y="4292990"/>
            <a:ext cx="8537124" cy="1870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1457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6D473-2241-73EB-0BA1-C8D7408EB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D6E9C502-71CF-C6CD-FA35-DA370B66DF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8538855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1 566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79F85009-11BF-88ED-24B0-93F8EF8E4C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2317426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7.18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9F569FB-BC65-E7CD-6726-B95C2C451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107D01C-CFA8-944B-37EB-F6AFFDFBB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20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E0F35F56-1140-D3BA-84CF-0C5C934235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581308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604 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B3123002-163C-09D9-F808-068A7C886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598261"/>
              </p:ext>
            </p:extLst>
          </p:nvPr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E73D08F-2D28-2EBC-C040-9414EAA1E810}"/>
              </a:ext>
            </a:extLst>
          </p:cNvPr>
          <p:cNvSpPr txBox="1"/>
          <p:nvPr/>
        </p:nvSpPr>
        <p:spPr>
          <a:xfrm>
            <a:off x="232597" y="204026"/>
            <a:ext cx="824084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</a:t>
            </a:r>
            <a:r>
              <a:rPr lang="ru-RU" sz="2800" dirty="0"/>
              <a:t>звука.</a:t>
            </a:r>
            <a:r>
              <a:rPr lang="en-US" sz="2800" dirty="0"/>
              <a:t>wav</a:t>
            </a:r>
            <a:r>
              <a:rPr lang="ru-RU" sz="2800" dirty="0"/>
              <a:t> и сжатая версия</a:t>
            </a:r>
          </a:p>
        </p:txBody>
      </p:sp>
      <p:pic>
        <p:nvPicPr>
          <p:cNvPr id="4" name="Рисунок 3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81ADB6E-238A-01DF-66E2-EF1CB9322E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4" y="1559401"/>
            <a:ext cx="8606276" cy="2151569"/>
          </a:xfrm>
          <a:prstGeom prst="rect">
            <a:avLst/>
          </a:prstGeom>
        </p:spPr>
      </p:pic>
      <p:pic>
        <p:nvPicPr>
          <p:cNvPr id="12" name="Рисунок 11" descr="Изображение выглядит как Мультимедийное программное обеспечение, Графическое программное обеспечение, программное обеспечение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A58FC5B-0456-2546-D283-34BB688E6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581" y="4224281"/>
            <a:ext cx="8709419" cy="1940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16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EB84-AFE1-CD1A-A560-5E84D1F1D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0AC35C84-6F5F-0C1A-28C4-A8BC71726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3627300"/>
              </p:ext>
            </p:extLst>
          </p:nvPr>
        </p:nvGraphicFramePr>
        <p:xfrm>
          <a:off x="8839325" y="2780940"/>
          <a:ext cx="2828133" cy="4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61287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126 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9B397B2E-3E8C-F66D-D609-E00DE7268B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5479592"/>
              </p:ext>
            </p:extLst>
          </p:nvPr>
        </p:nvGraphicFramePr>
        <p:xfrm>
          <a:off x="8851320" y="1983991"/>
          <a:ext cx="2828133" cy="41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41098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7.85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D0341F0-F485-65E3-F45B-FA26C0A1B0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A14DF-B759-9A63-EB70-58EAD3A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E7071EAA-65CF-C91A-5A63-AD53E35877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5722477"/>
              </p:ext>
            </p:extLst>
          </p:nvPr>
        </p:nvGraphicFramePr>
        <p:xfrm>
          <a:off x="395973" y="4410821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Размер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122 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Кб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A50621A3-FDC6-B87F-EC47-88A273310F40}"/>
              </a:ext>
            </a:extLst>
          </p:cNvPr>
          <p:cNvGraphicFramePr>
            <a:graphicFrameLocks noGrp="1"/>
          </p:cNvGraphicFramePr>
          <p:nvPr/>
        </p:nvGraphicFramePr>
        <p:xfrm>
          <a:off x="395973" y="5400195"/>
          <a:ext cx="2828133" cy="565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016">
                  <a:extLst>
                    <a:ext uri="{9D8B030D-6E8A-4147-A177-3AD203B41FA5}">
                      <a16:colId xmlns:a16="http://schemas.microsoft.com/office/drawing/2014/main" val="3852776436"/>
                    </a:ext>
                  </a:extLst>
                </a:gridCol>
                <a:gridCol w="1559117">
                  <a:extLst>
                    <a:ext uri="{9D8B030D-6E8A-4147-A177-3AD203B41FA5}">
                      <a16:colId xmlns:a16="http://schemas.microsoft.com/office/drawing/2014/main" val="1792951911"/>
                    </a:ext>
                  </a:extLst>
                </a:gridCol>
              </a:tblGrid>
              <a:tr h="565685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Энтропия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8918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3501D45-8A81-54E4-B08C-FA25D984F747}"/>
              </a:ext>
            </a:extLst>
          </p:cNvPr>
          <p:cNvSpPr txBox="1"/>
          <p:nvPr/>
        </p:nvSpPr>
        <p:spPr>
          <a:xfrm>
            <a:off x="232597" y="204026"/>
            <a:ext cx="824084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Гистограмма </a:t>
            </a:r>
            <a:r>
              <a:rPr lang="ru-RU" sz="2800" dirty="0"/>
              <a:t>распределения значений</a:t>
            </a:r>
            <a:r>
              <a:rPr lang="en-US" sz="2800" dirty="0"/>
              <a:t> </a:t>
            </a:r>
            <a:r>
              <a:rPr lang="ru-RU" sz="2800" dirty="0"/>
              <a:t>звука.</a:t>
            </a:r>
            <a:r>
              <a:rPr lang="en-US" sz="2800" dirty="0"/>
              <a:t>mp3</a:t>
            </a:r>
            <a:r>
              <a:rPr lang="ru-RU" sz="2800" dirty="0"/>
              <a:t> и сжатая версия</a:t>
            </a:r>
          </a:p>
        </p:txBody>
      </p:sp>
      <p:pic>
        <p:nvPicPr>
          <p:cNvPr id="2" name="Рисунок 1" descr="Изображение выглядит как Мультимедийное программное обеспечение, Графическое программное обеспечение, программное обеспечение, Редактиров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23B6B62-2ACD-73CE-0E89-E5F9897E6E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9" y="1579200"/>
            <a:ext cx="8604811" cy="2157798"/>
          </a:xfrm>
          <a:prstGeom prst="rect">
            <a:avLst/>
          </a:prstGeom>
        </p:spPr>
      </p:pic>
      <p:pic>
        <p:nvPicPr>
          <p:cNvPr id="3" name="Рисунок 2" descr="Изображение выглядит как снимок экрана, Мультимедийное программное обеспечение, Графическое программное обеспечение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F54C9B1-8118-5526-C745-0E78BA2009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1343" y="4272256"/>
            <a:ext cx="8690657" cy="1942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800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8882" y="276086"/>
            <a:ext cx="10909640" cy="80160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Таблица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F30858B-779D-1BD0-F806-9B8BD3D66583}"/>
              </a:ext>
            </a:extLst>
          </p:cNvPr>
          <p:cNvSpPr/>
          <p:nvPr/>
        </p:nvSpPr>
        <p:spPr>
          <a:xfrm>
            <a:off x="3788330" y="1534160"/>
            <a:ext cx="4735910" cy="2580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8984E350-63C9-5BC5-4419-2F4DFE6526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1208379"/>
              </p:ext>
            </p:extLst>
          </p:nvPr>
        </p:nvGraphicFramePr>
        <p:xfrm>
          <a:off x="300242" y="1104877"/>
          <a:ext cx="11424357" cy="5280132"/>
        </p:xfrm>
        <a:graphic>
          <a:graphicData uri="http://schemas.openxmlformats.org/drawingml/2006/table">
            <a:tbl>
              <a:tblPr/>
              <a:tblGrid>
                <a:gridCol w="3433175">
                  <a:extLst>
                    <a:ext uri="{9D8B030D-6E8A-4147-A177-3AD203B41FA5}">
                      <a16:colId xmlns:a16="http://schemas.microsoft.com/office/drawing/2014/main" val="599086641"/>
                    </a:ext>
                  </a:extLst>
                </a:gridCol>
                <a:gridCol w="1873856">
                  <a:extLst>
                    <a:ext uri="{9D8B030D-6E8A-4147-A177-3AD203B41FA5}">
                      <a16:colId xmlns:a16="http://schemas.microsoft.com/office/drawing/2014/main" val="1929636521"/>
                    </a:ext>
                  </a:extLst>
                </a:gridCol>
                <a:gridCol w="1861144">
                  <a:extLst>
                    <a:ext uri="{9D8B030D-6E8A-4147-A177-3AD203B41FA5}">
                      <a16:colId xmlns:a16="http://schemas.microsoft.com/office/drawing/2014/main" val="663672005"/>
                    </a:ext>
                  </a:extLst>
                </a:gridCol>
                <a:gridCol w="2128091">
                  <a:extLst>
                    <a:ext uri="{9D8B030D-6E8A-4147-A177-3AD203B41FA5}">
                      <a16:colId xmlns:a16="http://schemas.microsoft.com/office/drawing/2014/main" val="3444452278"/>
                    </a:ext>
                  </a:extLst>
                </a:gridCol>
                <a:gridCol w="2128091">
                  <a:extLst>
                    <a:ext uri="{9D8B030D-6E8A-4147-A177-3AD203B41FA5}">
                      <a16:colId xmlns:a16="http://schemas.microsoft.com/office/drawing/2014/main" val="3389150081"/>
                    </a:ext>
                  </a:extLst>
                </a:gridCol>
              </a:tblGrid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Файл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Объём</a:t>
                      </a: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,Кб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Энтропия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Отношение объёмов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Отношение энтропий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4280743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LabsC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4,79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0315772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LabsC_mpress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7,22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0,19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1,51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9949875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LabsC_upx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6,49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0,13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1,35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37962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LabsCSharp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151,00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6,07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1510611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LabsCSharp_mpress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64,00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7,80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0,42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1,29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3884861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LabsCSharp_upx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7,90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1,30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487987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LabsPython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7870,00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7,99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2428931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LabsPython_mpress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7708,00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7,85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6287923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LabsPython_upx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7728,00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7605994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Фото.</a:t>
                      </a: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jpg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73,00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7,97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4946439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Фото_7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z.jpg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7,97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4087856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Фото.</a:t>
                      </a: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png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37,00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86419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Фото_7</a:t>
                      </a: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z.png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38,00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1,03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7232914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Сказка.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doc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7,40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6923887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Сказка_7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z.doc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7,98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0,81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0283438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Сказка.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txt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4,13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7936666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Сказка_7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z.txt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7,76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0,50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1,88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3043844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Таблица.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xlsx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6,97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8151569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Таблица_7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z.xlsx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7,97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0,73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1,14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6899925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Таблица.</a:t>
                      </a: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xlsb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6,76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8920210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Таблица_7</a:t>
                      </a: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z.xlsb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7,97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0,70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1,18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5379667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Звук.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wav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1566,00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7,18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0878544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Звук_7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z.wav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604,00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0,39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1,11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2013963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Звук.</a:t>
                      </a: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mp3</a:t>
                      </a:r>
                      <a:endParaRPr lang="en-US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126,00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7,85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678079"/>
                  </a:ext>
                </a:extLst>
              </a:tr>
              <a:tr h="1711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Звук_7</a:t>
                      </a: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z.mp3</a:t>
                      </a:r>
                      <a:endParaRPr lang="en-US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122,00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</a:t>
                      </a:r>
                      <a:endParaRPr lang="ru-RU" sz="1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0,97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1,02</a:t>
                      </a:r>
                      <a:endParaRPr lang="ru-RU" sz="1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962" marR="4962" marT="496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790945"/>
                  </a:ext>
                </a:extLst>
              </a:tr>
            </a:tbl>
          </a:graphicData>
        </a:graphic>
      </p:graphicFrame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AF1D318-9876-BD95-42E5-C883426FA5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A801ACB-1E80-40D3-8ED3-00DFFFAD5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57360" y="6358941"/>
            <a:ext cx="2743200" cy="365125"/>
          </a:xfrm>
        </p:spPr>
        <p:txBody>
          <a:bodyPr/>
          <a:lstStyle/>
          <a:p>
            <a:fld id="{8CC8C628-6975-4CC2-A0F1-47F458287FF0}" type="slidenum">
              <a:rPr lang="ru-RU" smtClean="0"/>
              <a:t>22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70436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50088"/>
            <a:ext cx="10515600" cy="861897"/>
          </a:xfrm>
        </p:spPr>
        <p:txBody>
          <a:bodyPr>
            <a:normAutofit/>
          </a:bodyPr>
          <a:lstStyle/>
          <a:p>
            <a:r>
              <a:rPr lang="ru-RU" sz="4000" dirty="0"/>
              <a:t>Вывод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5940" y="1253331"/>
            <a:ext cx="11120120" cy="510301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1600" dirty="0"/>
              <a:t>1) Энтропия и сжимаемость обратно пропорциональны: чем ниже исходная энтропия, тем выше сжимаемость. Пример: С (</a:t>
            </a:r>
            <a:r>
              <a:rPr lang="ru-RU" sz="1600" dirty="0">
                <a:solidFill>
                  <a:srgbClr val="000000"/>
                </a:solidFill>
                <a:latin typeface="Aptos Narrow" panose="020B0004020202020204" pitchFamily="34" charset="0"/>
              </a:rPr>
              <a:t>4.79</a:t>
            </a:r>
            <a:r>
              <a:rPr lang="ru-RU" sz="1600" dirty="0"/>
              <a:t>) сжата UPX на 87.3%, Python (7.99) — лишь на 1.8%. Это полностью соответствует теории информации Шеннона.</a:t>
            </a:r>
          </a:p>
          <a:p>
            <a:pPr marL="0" indent="0">
              <a:buNone/>
            </a:pPr>
            <a:r>
              <a:rPr lang="ru-RU" sz="1600" dirty="0"/>
              <a:t>2) UPX — наиболее эффективный и универсальный упаковщик: UPX стабильно показал высокие результаты на всех типах файлов: C — 12.7% от оригинала, C# — 42.4%, Python — 98.2. </a:t>
            </a:r>
          </a:p>
          <a:p>
            <a:pPr marL="0" indent="0">
              <a:buNone/>
            </a:pPr>
            <a:r>
              <a:rPr lang="ru-RU" sz="1600" dirty="0"/>
              <a:t>3) MPRESS проявляет избирательную эффективность: для C-программы MPRESS не сработал. Для C# — показал лучший результат среди всех тестов (38.4% от оригинала). Для Python — бесполезен.</a:t>
            </a:r>
          </a:p>
          <a:p>
            <a:pPr marL="0" indent="0">
              <a:buNone/>
            </a:pPr>
            <a:r>
              <a:rPr lang="ru-RU" sz="1600" dirty="0"/>
              <a:t>4)</a:t>
            </a:r>
            <a:r>
              <a:rPr lang="ru-RU" sz="1600" b="1" dirty="0"/>
              <a:t> </a:t>
            </a:r>
            <a:r>
              <a:rPr lang="ru-RU" sz="1600" dirty="0"/>
              <a:t>Язык программирования и способ компиляции критически влияют на сжимаемость: при идентичной логике: C — низкая энтропия, отличное сжатие; C# — средняя энтропия, хорошее сжатие; Python — высокая энтропия, сжатие бесполезно. Вывод: оценивать сжимаемость нужно не только по языку, но и по способу дистрибуции.</a:t>
            </a:r>
          </a:p>
          <a:p>
            <a:pPr marL="0" indent="0">
              <a:buNone/>
            </a:pPr>
            <a:r>
              <a:rPr lang="ru-RU" sz="1600" dirty="0"/>
              <a:t>5) Текстовые форматы: парадокс «финального сжатия» .</a:t>
            </a:r>
            <a:r>
              <a:rPr lang="ru-RU" sz="1600" dirty="0" err="1"/>
              <a:t>txt</a:t>
            </a:r>
            <a:r>
              <a:rPr lang="ru-RU" sz="1600" dirty="0"/>
              <a:t> (4.13) — отлично сжимается. .</a:t>
            </a:r>
            <a:r>
              <a:rPr lang="ru-RU" sz="1600" dirty="0" err="1"/>
              <a:t>docx</a:t>
            </a:r>
            <a:r>
              <a:rPr lang="ru-RU" sz="1600" dirty="0"/>
              <a:t> — уже сжатые контейнеры. Повторная архивация бесполезна. Практический вывод: не архивируйте документы Word — они уже оптимизированы.</a:t>
            </a:r>
          </a:p>
          <a:p>
            <a:pPr marL="0" indent="0">
              <a:buNone/>
            </a:pPr>
            <a:r>
              <a:rPr lang="ru-RU" sz="1600" dirty="0"/>
              <a:t>6) Графические и аудиоформаты делятся на «сжимаемые» и «финальные». mp3, .</a:t>
            </a:r>
            <a:r>
              <a:rPr lang="ru-RU" sz="1600" dirty="0" err="1"/>
              <a:t>jpg</a:t>
            </a:r>
            <a:r>
              <a:rPr lang="ru-RU" sz="1600" dirty="0"/>
              <a:t>, .</a:t>
            </a:r>
            <a:r>
              <a:rPr lang="ru-RU" sz="1600" dirty="0" err="1"/>
              <a:t>png</a:t>
            </a:r>
            <a:r>
              <a:rPr lang="ru-RU" sz="1600" dirty="0"/>
              <a:t> (7.9+) — финальные форматы, повторное сжатие бессмысленно, а .</a:t>
            </a:r>
            <a:r>
              <a:rPr lang="ru-RU" sz="1600" dirty="0" err="1"/>
              <a:t>wav</a:t>
            </a:r>
            <a:r>
              <a:rPr lang="ru-RU" sz="1600" dirty="0"/>
              <a:t> сжимается. Пользователь должен понимать: JPG, PNG, MP3 — это уже результат сжатия.</a:t>
            </a:r>
          </a:p>
          <a:p>
            <a:pPr marL="0" indent="0">
              <a:buNone/>
            </a:pPr>
            <a:r>
              <a:rPr lang="ru-RU" sz="1600" dirty="0"/>
              <a:t>7) </a:t>
            </a:r>
            <a:r>
              <a:rPr lang="ru-RU" sz="1600" b="1" dirty="0"/>
              <a:t> </a:t>
            </a:r>
            <a:r>
              <a:rPr lang="ru-RU" sz="1600" dirty="0"/>
              <a:t>Гистограмма — наглядный индикатор степени сжатия: исходные файлы с низкой энтропией имеют пиковые гистограммы. После эффективной упаковки гистограмма становится равномерной («белый шум»). Это позволяет визуально, без расчётов, оценить сжимаемость файла.</a:t>
            </a:r>
          </a:p>
          <a:p>
            <a:pPr marL="0" indent="0">
              <a:buNone/>
            </a:pPr>
            <a:r>
              <a:rPr lang="ru-RU" sz="1600" dirty="0"/>
              <a:t>8) Энтропия — объективный и универсальный критерий эффективности сжатия: энтропия Шеннона позволяет предсказать сжимаемость, оценить работу упаковщика и сравнить форматы хранения. Работа подтвердила это на 4 классах файлов и 2 типах алгоритмов. Полученные закономерности имеют прямое практическое применение: выбор формата, оптимизация дистрибутивов, оценка необходимости упаковки.</a:t>
            </a:r>
          </a:p>
        </p:txBody>
      </p:sp>
      <p:pic>
        <p:nvPicPr>
          <p:cNvPr id="6" name="Рисунок 5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D717F27-D23B-FE54-7791-32218449B6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1EB64A-4323-3424-347E-B9C2E8E99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8C628-6975-4CC2-A0F1-47F458287FF0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9102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8BF6D-6408-DAA1-77B5-AB0FF7354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0BDBB1D-238A-45D9-630F-4E4B6F236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350" y="3187267"/>
            <a:ext cx="3543300" cy="483466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F6EC9229-D156-AF9D-613F-70E205569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24</a:t>
            </a:fld>
            <a:endParaRPr lang="ru-RU"/>
          </a:p>
        </p:txBody>
      </p:sp>
      <p:pic>
        <p:nvPicPr>
          <p:cNvPr id="4" name="Рисунок 3" descr="Изображение выглядит как символ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6F95CCD-4237-E6E7-3C5B-26C3688C18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784" y="0"/>
            <a:ext cx="3877216" cy="82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60223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907</TotalTime>
  <Words>1364</Words>
  <Application>Microsoft Office PowerPoint</Application>
  <PresentationFormat>Широкоэкранный</PresentationFormat>
  <Paragraphs>309</Paragraphs>
  <Slides>24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31" baseType="lpstr">
      <vt:lpstr>Aptos Narrow</vt:lpstr>
      <vt:lpstr>Arial</vt:lpstr>
      <vt:lpstr>Arial Black</vt:lpstr>
      <vt:lpstr>Calibri</vt:lpstr>
      <vt:lpstr>Calibri Light</vt:lpstr>
      <vt:lpstr>Times New Roman</vt:lpstr>
      <vt:lpstr>Тема Office</vt:lpstr>
      <vt:lpstr>Презентация PowerPoint</vt:lpstr>
      <vt:lpstr>Что мы делали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Таблица</vt:lpstr>
      <vt:lpstr>Вывод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Вероника Зверь</dc:creator>
  <cp:lastModifiedBy>Буланый Сергей Евгеньевич</cp:lastModifiedBy>
  <cp:revision>78</cp:revision>
  <dcterms:created xsi:type="dcterms:W3CDTF">2026-02-11T19:46:24Z</dcterms:created>
  <dcterms:modified xsi:type="dcterms:W3CDTF">2026-02-26T11:37:32Z</dcterms:modified>
</cp:coreProperties>
</file>