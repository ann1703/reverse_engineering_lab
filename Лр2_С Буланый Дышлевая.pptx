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90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279" r:id="rId18"/>
    <p:sldId id="280" r:id="rId19"/>
    <p:sldId id="275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75" d="100"/>
          <a:sy n="75" d="100"/>
        </p:scale>
        <p:origin x="41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5F127-EF7C-4D16-B460-0CE257C7E17B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5BB2A-7750-4F15-B86C-FEB94FE9D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89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5BB2A-7750-4F15-B86C-FEB94FE9D7B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687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5DC51-E9B1-76F0-DFA6-F7DAED40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C418A8-B723-98E8-3DC6-64F8AA89B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C28CB4F-408D-5C06-1282-AEF2781ED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3592D2-5CF2-EB48-2F72-3026CD98D2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5BB2A-7750-4F15-B86C-FEB94FE9D7B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663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719D-693B-4A77-84DB-9E8C1D23A8C1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227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3134-B3F2-4317-B871-B88FB4A00131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07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88A9-13F1-4F40-8019-093569E6E3EF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72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97AA0-6125-4875-A987-6C4FF4B5CE30}" type="datetime1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388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0800-C1F3-441D-AFE3-704E247D4095}" type="datetime1">
              <a:rPr lang="ru-RU" smtClean="0"/>
              <a:t>26.02.2026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12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E1E7-2FCF-4D15-B644-3CE192867603}" type="datetime1">
              <a:rPr lang="ru-RU" smtClean="0"/>
              <a:t>26.02.2026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18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D6F9-9522-4E0E-B764-D722A322B6E0}" type="datetime1">
              <a:rPr lang="ru-RU" smtClean="0"/>
              <a:t>26.02.2026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29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F34C-B6D8-4D1D-84D8-54213C78C279}" type="datetime1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5160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A17E-64F2-46E8-BAC1-CFD826F028E0}" type="datetime1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0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815C9-C4A9-460B-9F3D-D5B099F812AA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063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CA59-152E-4437-ADB5-E4AD6E9B3A47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809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24392-178F-4638-9B43-936544BC9B5A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19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зарисовка, диаграмма, Параллельный, рису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434D5A-C08D-EBA0-4253-19400E1EC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6242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568ABC-F9C9-7674-7AC8-046D01A49FFB}"/>
              </a:ext>
            </a:extLst>
          </p:cNvPr>
          <p:cNvSpPr txBox="1"/>
          <p:nvPr/>
        </p:nvSpPr>
        <p:spPr>
          <a:xfrm>
            <a:off x="706581" y="2126746"/>
            <a:ext cx="482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Лабораторная №2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03276-700E-14FF-D019-58105A8A7754}"/>
              </a:ext>
            </a:extLst>
          </p:cNvPr>
          <p:cNvSpPr txBox="1"/>
          <p:nvPr/>
        </p:nvSpPr>
        <p:spPr>
          <a:xfrm>
            <a:off x="626302" y="5086198"/>
            <a:ext cx="51953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Выполнили – студ. Буланый Сергей Евгеньевич, ТКИ-341, студ. Дышлевая Анна Сергеевна, ТКИ-341</a:t>
            </a:r>
          </a:p>
          <a:p>
            <a:pPr algn="just"/>
            <a:r>
              <a:rPr lang="ru-RU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Проверили - д. т. н., проф. Сидоренко Валентина Геннадьевна, д. к. т. н. Сафронов Антон Игоревич </a:t>
            </a:r>
          </a:p>
        </p:txBody>
      </p:sp>
    </p:spTree>
    <p:extLst>
      <p:ext uri="{BB962C8B-B14F-4D97-AF65-F5344CB8AC3E}">
        <p14:creationId xmlns:p14="http://schemas.microsoft.com/office/powerpoint/2010/main" val="50158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D6571-8C8E-94A3-FECD-1B5BCCAAD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C99A6E-7689-0B00-C6AE-78C390221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217" y="153468"/>
            <a:ext cx="3484880" cy="675323"/>
          </a:xfrm>
        </p:spPr>
        <p:txBody>
          <a:bodyPr>
            <a:normAutofit/>
          </a:bodyPr>
          <a:lstStyle/>
          <a:p>
            <a:r>
              <a:rPr lang="ru-RU" sz="4000" dirty="0"/>
              <a:t>Что мы делали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F8A057-7B0B-3594-A171-58AD77A76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337" y="1086298"/>
            <a:ext cx="11535503" cy="5265723"/>
          </a:xfrm>
        </p:spPr>
        <p:txBody>
          <a:bodyPr>
            <a:noAutofit/>
          </a:bodyPr>
          <a:lstStyle/>
          <a:p>
            <a:pPr algn="l"/>
            <a:r>
              <a:rPr lang="ru-RU" sz="1700" dirty="0"/>
              <a:t>Мы взяли программу на языке C, которая вычисляет заданную функцию: </a:t>
            </a:r>
          </a:p>
          <a:p>
            <a:pPr algn="l"/>
            <a:endParaRPr lang="ru-RU" sz="1700" dirty="0"/>
          </a:p>
          <a:p>
            <a:pPr algn="l"/>
            <a:endParaRPr lang="ru-RU" sz="1700" dirty="0"/>
          </a:p>
          <a:p>
            <a:pPr algn="l"/>
            <a:r>
              <a:rPr lang="ru-RU" sz="1700" dirty="0"/>
              <a:t>С помощью искусственного интеллекта мы выполнили трансляцию исходного кода с языка C на языки C# и Python. Далее мы провели анализ исходных файлов. Каждый файл был открыт в HEX-редакторе «010 Editor»: изучена структура, построены гистограммы распределения байтов и энтропии каждого файла.  Следующим этапом стала «упаковка исполняемых файлов» двумя упаковщиками: «UPX» и «MPRESS». После упаковки мы провели анализ: построили гистограммы и рассчитали энтропию для всех 6 файлов. Результаты показали, что UPX продемонстрировал выдающуюся эффективность. MPRESS показал не впечатляющие результаты.</a:t>
            </a:r>
          </a:p>
          <a:p>
            <a:pPr algn="l"/>
            <a:r>
              <a:rPr lang="ru-RU" sz="1700" dirty="0"/>
              <a:t>Параллельно мы провели «исследование энтропии различных форматов данных». Были взяты:</a:t>
            </a:r>
          </a:p>
          <a:p>
            <a:pPr algn="l"/>
            <a:r>
              <a:rPr lang="ru-RU" sz="1700" kern="100" dirty="0"/>
              <a:t>текстовые файлы (.</a:t>
            </a:r>
            <a:r>
              <a:rPr lang="ru-RU" sz="1700" kern="100" dirty="0" err="1"/>
              <a:t>txt</a:t>
            </a:r>
            <a:r>
              <a:rPr lang="ru-RU" sz="1700" kern="100" dirty="0"/>
              <a:t>, .</a:t>
            </a:r>
            <a:r>
              <a:rPr lang="ru-RU" sz="1700" kern="100" dirty="0" err="1"/>
              <a:t>docx</a:t>
            </a:r>
            <a:r>
              <a:rPr lang="ru-RU" sz="1700" kern="100" dirty="0"/>
              <a:t>) с содержанием сказки «Каша из топора»;</a:t>
            </a:r>
          </a:p>
          <a:p>
            <a:pPr algn="l"/>
            <a:r>
              <a:rPr lang="ru-RU" sz="1700" kern="100" dirty="0"/>
              <a:t>графические файлы (.</a:t>
            </a:r>
            <a:r>
              <a:rPr lang="ru-RU" sz="1700" kern="100" dirty="0" err="1"/>
              <a:t>jpg</a:t>
            </a:r>
            <a:r>
              <a:rPr lang="ru-RU" sz="1700" kern="100" dirty="0"/>
              <a:t>, .</a:t>
            </a:r>
            <a:r>
              <a:rPr lang="ru-RU" sz="1700" kern="100" dirty="0" err="1"/>
              <a:t>png</a:t>
            </a:r>
            <a:r>
              <a:rPr lang="ru-RU" sz="1700" kern="100" dirty="0"/>
              <a:t>) — обложка книги;</a:t>
            </a:r>
          </a:p>
          <a:p>
            <a:pPr algn="l"/>
            <a:r>
              <a:rPr lang="ru-RU" sz="1700" kern="100" dirty="0"/>
              <a:t>табличные файлы (.</a:t>
            </a:r>
            <a:r>
              <a:rPr lang="ru-RU" sz="1700" kern="100" dirty="0" err="1"/>
              <a:t>xlsx</a:t>
            </a:r>
            <a:r>
              <a:rPr lang="ru-RU" sz="1700" kern="100" dirty="0"/>
              <a:t>, .</a:t>
            </a:r>
            <a:r>
              <a:rPr lang="ru-RU" sz="1700" kern="100" dirty="0" err="1"/>
              <a:t>xlsb</a:t>
            </a:r>
            <a:r>
              <a:rPr lang="ru-RU" sz="1700" kern="100" dirty="0"/>
              <a:t>);</a:t>
            </a:r>
          </a:p>
          <a:p>
            <a:pPr algn="l"/>
            <a:r>
              <a:rPr lang="ru-RU" sz="1700" kern="100" dirty="0"/>
              <a:t>аудиофайлы (.</a:t>
            </a:r>
            <a:r>
              <a:rPr lang="ru-RU" sz="1700" kern="100" dirty="0" err="1"/>
              <a:t>wav</a:t>
            </a:r>
            <a:r>
              <a:rPr lang="ru-RU" sz="1700" kern="100" dirty="0"/>
              <a:t>, .mp3).</a:t>
            </a:r>
          </a:p>
          <a:p>
            <a:pPr algn="l"/>
            <a:r>
              <a:rPr lang="ru-RU" sz="1700" dirty="0"/>
              <a:t>Для каждого файла построены гистограммы и рассчитана энтропия исходных версий. Затем все файлы были упакованы в ZIP-архивы с максимальным сжатием, после чего для архивов также проведён анализ. Это позволило сравнить влияние архивации на разные типы данных. На заключительном этапе все результаты систематизированы в «сводную таблицу».</a:t>
            </a:r>
          </a:p>
        </p:txBody>
      </p:sp>
      <p:pic>
        <p:nvPicPr>
          <p:cNvPr id="7" name="Рисунок 6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FC711F-92DF-F8BF-C4E2-6E5314D30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8" name="Номер слайда 6">
            <a:extLst>
              <a:ext uri="{FF2B5EF4-FFF2-40B4-BE49-F238E27FC236}">
                <a16:creationId xmlns:a16="http://schemas.microsoft.com/office/drawing/2014/main" id="{1993628F-BA18-A4D2-B833-DCF64567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CC8C628-6975-4CC2-A0F1-47F458287FF0}" type="slidenum">
              <a:rPr lang="ru-RU" smtClean="0"/>
              <a:t>2</a:t>
            </a:fld>
            <a:endParaRPr lang="ru-RU"/>
          </a:p>
        </p:txBody>
      </p:sp>
      <p:pic>
        <p:nvPicPr>
          <p:cNvPr id="10" name="Рисунок 9" descr="Изображение выглядит как Шрифт, рукописный текст, текст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C23F852-063D-44C0-A209-469C6D6C9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37" y="1399353"/>
            <a:ext cx="2772162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1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8C305-DA1A-04DD-0672-0736F8667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F0E71E53-2187-658B-05A7-7FDF7457D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61161"/>
              </p:ext>
            </p:extLst>
          </p:nvPr>
        </p:nvGraphicFramePr>
        <p:xfrm>
          <a:off x="8921906" y="2525021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63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8D0C8E8F-BFBB-D6B7-9E10-834210577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879822"/>
              </p:ext>
            </p:extLst>
          </p:nvPr>
        </p:nvGraphicFramePr>
        <p:xfrm>
          <a:off x="8921907" y="1487476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4.79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выглядит как снимок экрана, Мультимедийное программное обеспечение, Графическое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9067207-F668-4233-06B1-157E4D7C7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4905"/>
            <a:ext cx="8645783" cy="2349181"/>
          </a:xfrm>
          <a:prstGeom prst="rect">
            <a:avLst/>
          </a:prstGeom>
        </p:spPr>
      </p:pic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7694F8-E80C-4BCB-689A-D4346E5D1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76019D-DA21-0136-3CF5-FF777800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3</a:t>
            </a:fld>
            <a:endParaRPr lang="ru-RU"/>
          </a:p>
        </p:txBody>
      </p:sp>
      <p:pic>
        <p:nvPicPr>
          <p:cNvPr id="8" name="Рисунок 7" descr="Изображение выглядит как снимок экрана, Мультимедийное программное обеспечение, Графическое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2A5660-A157-3118-4DC5-841D72487B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217" y="4074160"/>
            <a:ext cx="8645783" cy="22821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A7125B-C3F8-C679-E6E9-D1A1CAB245E7}"/>
              </a:ext>
            </a:extLst>
          </p:cNvPr>
          <p:cNvSpPr txBox="1"/>
          <p:nvPr/>
        </p:nvSpPr>
        <p:spPr>
          <a:xfrm>
            <a:off x="232598" y="204026"/>
            <a:ext cx="8110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для ре</a:t>
            </a:r>
            <a:r>
              <a:rPr lang="ru-RU" sz="2800" dirty="0"/>
              <a:t>ш</a:t>
            </a:r>
            <a:r>
              <a:rPr lang="en-US" sz="2800" dirty="0"/>
              <a:t>ения функции на языке C </a:t>
            </a:r>
            <a:r>
              <a:rPr lang="ru-RU" sz="2800" dirty="0"/>
              <a:t>без сжатия и среднее сжатие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B4828646-AEF2-98FA-A5D9-BFE1B382D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710886"/>
              </p:ext>
            </p:extLst>
          </p:nvPr>
        </p:nvGraphicFramePr>
        <p:xfrm>
          <a:off x="232598" y="4355840"/>
          <a:ext cx="282813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12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DF040893-6474-B7FE-72CE-A25CA79C5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151053"/>
              </p:ext>
            </p:extLst>
          </p:nvPr>
        </p:nvGraphicFramePr>
        <p:xfrm>
          <a:off x="367022" y="5310234"/>
          <a:ext cx="2828133" cy="402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0297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9319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0B088-45BE-4056-3530-55A0AC870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422FCA2-EC89-2AD9-996F-AC7FD00B7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942656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63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A7E5EFC9-DC1F-0DEB-1712-BA50A27EC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01158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4.79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4" name="Рисунок 3" descr="Изображение выглядит как снимок экрана, Мультимедийное программное обеспечение, Графическое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C945A93-A13A-EE0C-0379-3FE1FD5EF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5112"/>
            <a:ext cx="8247622" cy="2240995"/>
          </a:xfrm>
          <a:prstGeom prst="rect">
            <a:avLst/>
          </a:prstGeom>
        </p:spPr>
      </p:pic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34D73B9-D475-D8E2-031D-007CDEBAA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94E544-056E-0CEE-21E5-E56080F97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4</a:t>
            </a:fld>
            <a:endParaRPr lang="ru-RU"/>
          </a:p>
        </p:txBody>
      </p:sp>
      <p:pic>
        <p:nvPicPr>
          <p:cNvPr id="3" name="Рисунок 2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FA4C905-AE34-DA21-60D9-167128B5BC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080" y="4248150"/>
            <a:ext cx="8249920" cy="2108200"/>
          </a:xfrm>
          <a:prstGeom prst="rect">
            <a:avLst/>
          </a:prstGeom>
        </p:spPr>
      </p:pic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201FF9F-9167-AA07-1910-478CCE789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343943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0D71BD55-6F4B-1316-952E-860BE4550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913429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6.49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DEF3618-0B04-BA08-3E25-A3B6C7932451}"/>
              </a:ext>
            </a:extLst>
          </p:cNvPr>
          <p:cNvSpPr txBox="1"/>
          <p:nvPr/>
        </p:nvSpPr>
        <p:spPr>
          <a:xfrm>
            <a:off x="232598" y="204026"/>
            <a:ext cx="8110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для ре</a:t>
            </a:r>
            <a:r>
              <a:rPr lang="ru-RU" sz="2800" dirty="0"/>
              <a:t>ш</a:t>
            </a:r>
            <a:r>
              <a:rPr lang="en-US" sz="2800" dirty="0"/>
              <a:t>ения функции на языке C </a:t>
            </a:r>
            <a:r>
              <a:rPr lang="ru-RU" sz="2800" dirty="0"/>
              <a:t>без сжатия и высокое сжатие</a:t>
            </a:r>
          </a:p>
        </p:txBody>
      </p:sp>
    </p:spTree>
    <p:extLst>
      <p:ext uri="{BB962C8B-B14F-4D97-AF65-F5344CB8AC3E}">
        <p14:creationId xmlns:p14="http://schemas.microsoft.com/office/powerpoint/2010/main" val="977561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8C9EA-F028-C7E1-CD31-AC26933C6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92E48DDC-964E-D4F0-60FB-1BB65BDD2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126527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151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71CB9700-C2DE-29BF-7BC9-2E8653305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315758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6.07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0EC331-C949-858E-981B-91437B33E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2DEC36-EAD3-92C9-8BE3-268EE5A6B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5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BBA68745-C8E4-6E62-70E4-9609B4987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810628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64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90D81F30-E839-F8AC-FFEE-D90FC19AB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283493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F952779-E2AA-1B34-866A-5EB4B53BF6C2}"/>
              </a:ext>
            </a:extLst>
          </p:cNvPr>
          <p:cNvSpPr txBox="1"/>
          <p:nvPr/>
        </p:nvSpPr>
        <p:spPr>
          <a:xfrm>
            <a:off x="232598" y="204026"/>
            <a:ext cx="8110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Гистограмма </a:t>
            </a:r>
            <a:r>
              <a:rPr lang="ru-RU" sz="2800" dirty="0" err="1"/>
              <a:t>распределания</a:t>
            </a:r>
            <a:r>
              <a:rPr lang="ru-RU" sz="2800" dirty="0"/>
              <a:t> значений</a:t>
            </a:r>
            <a:r>
              <a:rPr lang="en-US" sz="2800" dirty="0"/>
              <a:t> 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для ре</a:t>
            </a:r>
            <a:r>
              <a:rPr lang="ru-RU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ш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ения функции на языке C# </a:t>
            </a:r>
            <a:r>
              <a:rPr lang="ru-RU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без сжатия и среднее сжатие</a:t>
            </a:r>
            <a:endParaRPr lang="ru-RU" sz="2800" dirty="0"/>
          </a:p>
        </p:txBody>
      </p:sp>
      <p:pic>
        <p:nvPicPr>
          <p:cNvPr id="2" name="Рисунок 1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F3CA912-7DE9-F7A6-2C94-2F49C1BEB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7706"/>
            <a:ext cx="8267450" cy="2108200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E6DDB5E-7ADA-3B88-8DF1-FEBECD0D5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621" y="4248150"/>
            <a:ext cx="8376379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19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CC94E-7AB7-3CEB-DE53-F6AC34D20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F78BBC2-3BF6-CB99-14E8-8BE1C6272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915695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151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4602ABFB-5309-1A73-2EE2-3F4BD4E92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5076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6.07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A5310EE-E3B5-C7BF-4C00-D9080434B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7F43E6-7139-0C66-2818-F426F7B91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6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84536188-E9E3-CBBF-4B29-4851A92C4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16895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58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920655FB-1D58-82ED-AF64-83BCEAAD7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725363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CF16744-9E79-94C0-A53E-7726B486981D}"/>
              </a:ext>
            </a:extLst>
          </p:cNvPr>
          <p:cNvSpPr txBox="1"/>
          <p:nvPr/>
        </p:nvSpPr>
        <p:spPr>
          <a:xfrm>
            <a:off x="232598" y="204026"/>
            <a:ext cx="8110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для ре</a:t>
            </a:r>
            <a:r>
              <a:rPr lang="ru-RU" sz="2800" dirty="0"/>
              <a:t>ш</a:t>
            </a:r>
            <a:r>
              <a:rPr lang="en-US" sz="2800" dirty="0"/>
              <a:t>ения функции на языке C# </a:t>
            </a:r>
            <a:r>
              <a:rPr lang="ru-RU" sz="2800" dirty="0"/>
              <a:t>без сжатия и высокое сжатие</a:t>
            </a:r>
          </a:p>
        </p:txBody>
      </p:sp>
      <p:pic>
        <p:nvPicPr>
          <p:cNvPr id="2" name="Рисунок 1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593963-A064-B21A-8030-E05CC4ADD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7706"/>
            <a:ext cx="8267450" cy="2108200"/>
          </a:xfrm>
          <a:prstGeom prst="rect">
            <a:avLst/>
          </a:prstGeom>
        </p:spPr>
      </p:pic>
      <p:pic>
        <p:nvPicPr>
          <p:cNvPr id="4" name="Рисунок 3" descr="Изображение выглядит как Мультимедийное программное обеспечение, программное обеспечение, Графическое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B576309-1C3C-E0F3-FA12-A4018CB761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639" y="4272256"/>
            <a:ext cx="8402361" cy="211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543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5C08D-42C4-5DCE-FDB2-2D0DA53E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EF4D3A5-B853-519A-58FB-23E8194D3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146433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7 870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00E2114D-BBBB-8190-6121-B1EFA8FBD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363232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418FEA-5435-8688-E3AB-F9D6A5D3C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26FDED-F4E3-457F-1820-C9B8B52A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7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2384B13-88AC-AC6A-936B-F82C8D121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741538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7 708 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E7ABDE26-8117-1B93-3CFF-71796D298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596621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BC8CD62-22BA-1BE6-FF20-A21E71800F4C}"/>
              </a:ext>
            </a:extLst>
          </p:cNvPr>
          <p:cNvSpPr txBox="1"/>
          <p:nvPr/>
        </p:nvSpPr>
        <p:spPr>
          <a:xfrm>
            <a:off x="232597" y="204026"/>
            <a:ext cx="86067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для ре</a:t>
            </a:r>
            <a:r>
              <a:rPr lang="ru-RU" sz="2800" dirty="0"/>
              <a:t>ш</a:t>
            </a:r>
            <a:r>
              <a:rPr lang="en-US" sz="2800" dirty="0"/>
              <a:t>ения функции на языке Python </a:t>
            </a:r>
            <a:r>
              <a:rPr lang="ru-RU" sz="2800" dirty="0"/>
              <a:t>без сжатия и среднее сжатие</a:t>
            </a:r>
          </a:p>
        </p:txBody>
      </p:sp>
      <p:pic>
        <p:nvPicPr>
          <p:cNvPr id="3" name="Рисунок 2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76D8819-DF52-0A0C-F657-5A621A8C8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2979"/>
            <a:ext cx="8636000" cy="2162996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3D5FD5D-8CE9-0708-0472-7F4C10A64F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4177421"/>
            <a:ext cx="8636000" cy="217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21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DC63E-5687-5FA3-DC82-757CEC645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9B3AB762-A1D9-6608-AF11-687CE7241C88}"/>
              </a:ext>
            </a:extLst>
          </p:cNvPr>
          <p:cNvGraphicFramePr>
            <a:graphicFrameLocks noGrp="1"/>
          </p:cNvGraphicFramePr>
          <p:nvPr/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7 870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ECADB00A-E2ED-5667-A61E-CA9277913919}"/>
              </a:ext>
            </a:extLst>
          </p:cNvPr>
          <p:cNvGraphicFramePr>
            <a:graphicFrameLocks noGrp="1"/>
          </p:cNvGraphicFramePr>
          <p:nvPr/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E9A5B68-7C85-1FBA-1EF8-BCBC7CE0A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1DAD38-CD52-889C-F9EA-49957C8D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8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645561D-5039-B5F0-C71E-706F5A58A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454990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7 728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7F61F671-5E05-BD20-1699-FBC569FCD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186244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7662473-517C-12C2-8164-C0C8BA49F20A}"/>
              </a:ext>
            </a:extLst>
          </p:cNvPr>
          <p:cNvSpPr txBox="1"/>
          <p:nvPr/>
        </p:nvSpPr>
        <p:spPr>
          <a:xfrm>
            <a:off x="232597" y="204026"/>
            <a:ext cx="86067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для ре</a:t>
            </a:r>
            <a:r>
              <a:rPr lang="ru-RU" sz="2800" dirty="0"/>
              <a:t>ш</a:t>
            </a:r>
            <a:r>
              <a:rPr lang="en-US" sz="2800" dirty="0"/>
              <a:t>ения функции на языке Python </a:t>
            </a:r>
            <a:r>
              <a:rPr lang="ru-RU" sz="2800" dirty="0"/>
              <a:t>без сжатия и среднее сжатие</a:t>
            </a:r>
          </a:p>
        </p:txBody>
      </p:sp>
      <p:pic>
        <p:nvPicPr>
          <p:cNvPr id="3" name="Рисунок 2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5D80A31-49E4-FE16-6198-E24D1AA7B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2979"/>
            <a:ext cx="8636000" cy="2162996"/>
          </a:xfrm>
          <a:prstGeom prst="rect">
            <a:avLst/>
          </a:prstGeom>
        </p:spPr>
      </p:pic>
      <p:pic>
        <p:nvPicPr>
          <p:cNvPr id="2" name="Рисунок 1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A05F3B0-0660-196D-BC4A-6AA47F41D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1" y="4104214"/>
            <a:ext cx="8636000" cy="21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76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EF9CA-D7BE-49E5-2F16-6D5F93AB9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8B97E1D-7C40-D674-A766-1BD510F1B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024485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73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138E18FB-F347-270D-116B-3E9983954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856514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36F0575-4D35-5C05-CA72-4FA21A984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FE0626-13F9-1A33-9214-3204925D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9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FBAE33F-0CEE-DD15-224A-2110B298A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914952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73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73A89171-14E4-3559-0100-C807D4988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587389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48307A4-8A0E-0D76-9770-AA477F3B1E62}"/>
              </a:ext>
            </a:extLst>
          </p:cNvPr>
          <p:cNvSpPr txBox="1"/>
          <p:nvPr/>
        </p:nvSpPr>
        <p:spPr>
          <a:xfrm>
            <a:off x="232597" y="204026"/>
            <a:ext cx="86067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</a:t>
            </a:r>
            <a:r>
              <a:rPr lang="ru-RU" sz="2800" dirty="0"/>
              <a:t>изображения обложки книги в формате</a:t>
            </a:r>
            <a:r>
              <a:rPr lang="en-US" sz="2800" dirty="0"/>
              <a:t> jpg</a:t>
            </a:r>
            <a:r>
              <a:rPr lang="ru-RU" sz="2800" dirty="0"/>
              <a:t>  и сжатая </a:t>
            </a:r>
            <a:r>
              <a:rPr lang="en-US" sz="2800" dirty="0"/>
              <a:t>jpg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2A3BF04-D17A-2C3E-3CA1-32985ED41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7533"/>
            <a:ext cx="8622485" cy="1907280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снимок экрана, Графическое программное обеспечение, Мультимедийное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CAAA2A3-D311-8E37-1FF0-54FAB971D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4347122"/>
            <a:ext cx="8610600" cy="199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62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E17FE-EEB8-5B11-0353-A5159AA27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2F0DAE95-BCF4-4389-4616-7C334B6F3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104887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37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3C0F98C7-784A-615C-DEAA-A38AF5D793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892457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314C84-6BC8-9268-3492-E0AFF8670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5272C8-E6CE-5CA5-9D7A-6AC00DBD4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10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EF8CA67-2982-DA13-75D9-0F9ED53F3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943949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38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B50541E0-2F52-7098-25CC-645DB831B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315482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7663996-E997-4646-382D-BC13C52366EC}"/>
              </a:ext>
            </a:extLst>
          </p:cNvPr>
          <p:cNvSpPr txBox="1"/>
          <p:nvPr/>
        </p:nvSpPr>
        <p:spPr>
          <a:xfrm>
            <a:off x="232597" y="204026"/>
            <a:ext cx="86067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</a:t>
            </a:r>
            <a:r>
              <a:rPr lang="ru-RU" sz="2800" dirty="0"/>
              <a:t>изображения обложки книги в формате</a:t>
            </a:r>
            <a:r>
              <a:rPr lang="en-US" sz="2800" dirty="0"/>
              <a:t> png</a:t>
            </a:r>
            <a:r>
              <a:rPr lang="ru-RU" sz="2800" dirty="0"/>
              <a:t>  и сжатая </a:t>
            </a:r>
            <a:r>
              <a:rPr lang="en-US" sz="2800" dirty="0"/>
              <a:t>png</a:t>
            </a:r>
            <a:endParaRPr lang="ru-RU" sz="2800" dirty="0"/>
          </a:p>
        </p:txBody>
      </p:sp>
      <p:pic>
        <p:nvPicPr>
          <p:cNvPr id="2" name="Рисунок 1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5FDADA2-F4F3-3717-09EE-E1222573C2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1822"/>
            <a:ext cx="8610600" cy="2199015"/>
          </a:xfrm>
          <a:prstGeom prst="rect">
            <a:avLst/>
          </a:prstGeom>
        </p:spPr>
      </p:pic>
      <p:pic>
        <p:nvPicPr>
          <p:cNvPr id="3" name="Рисунок 2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337E38-2D59-AE8D-F22D-6FA6A7495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170" y="4027852"/>
            <a:ext cx="8666830" cy="208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49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1A946-389A-5DF2-19C3-5D8BECE0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3D22294C-C1B6-A112-2867-C55082DA6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456796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16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3C405908-2447-09B6-00A9-ABAF26104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692192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46B777-A157-7533-DAF0-376079085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54903D-30DB-2103-7D19-9A161370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11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6901E68-267C-C87D-5D6F-DA4705000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24698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13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89F5642-B05D-E222-E147-12059317D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806091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DA0703B-E1C1-CFD0-8EC8-683AF4F0FE76}"/>
              </a:ext>
            </a:extLst>
          </p:cNvPr>
          <p:cNvSpPr txBox="1"/>
          <p:nvPr/>
        </p:nvSpPr>
        <p:spPr>
          <a:xfrm>
            <a:off x="232597" y="204026"/>
            <a:ext cx="82408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</a:t>
            </a:r>
            <a:r>
              <a:rPr lang="ru-RU" sz="2800" dirty="0"/>
              <a:t>сказки «Каша из топора»</a:t>
            </a:r>
            <a:r>
              <a:rPr lang="en-US" sz="2800" dirty="0"/>
              <a:t>.doc</a:t>
            </a:r>
            <a:r>
              <a:rPr lang="ru-RU" sz="2800" dirty="0"/>
              <a:t> и сжатая версия</a:t>
            </a:r>
          </a:p>
        </p:txBody>
      </p:sp>
      <p:pic>
        <p:nvPicPr>
          <p:cNvPr id="4" name="Рисунок 3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6BE4FDE-80F0-6042-F6D5-CEAF1CF96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" y="1496667"/>
            <a:ext cx="8606727" cy="2201843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010264-F0C5-A294-5BF1-82382017A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527" y="4369412"/>
            <a:ext cx="8614473" cy="190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24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3FE74-400A-F60F-3C7C-3360BEC50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E692863A-482F-9157-D03C-C640D4892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247463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5B671C95-036D-CD09-F0ED-A51C1BB17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842589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9E6879F-C70E-CBFA-7530-22959CEB7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A9B2B9-5AAF-0B09-16DE-CEB658431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12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D06F8DA-17CC-11DD-EC8A-F91930A39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579680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B479F20-9066-182F-6904-B9D71F1A5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203491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8F312EA-07FE-F99F-22D3-8A539459334A}"/>
              </a:ext>
            </a:extLst>
          </p:cNvPr>
          <p:cNvSpPr txBox="1"/>
          <p:nvPr/>
        </p:nvSpPr>
        <p:spPr>
          <a:xfrm>
            <a:off x="232597" y="204026"/>
            <a:ext cx="82408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</a:t>
            </a:r>
            <a:r>
              <a:rPr lang="ru-RU" sz="2800" dirty="0"/>
              <a:t>сказки «Каша из топора»</a:t>
            </a:r>
            <a:r>
              <a:rPr lang="en-US" sz="2800" dirty="0"/>
              <a:t>.txt</a:t>
            </a:r>
            <a:r>
              <a:rPr lang="ru-RU" sz="2800" dirty="0"/>
              <a:t> и сжатая версия</a:t>
            </a:r>
          </a:p>
        </p:txBody>
      </p:sp>
      <p:pic>
        <p:nvPicPr>
          <p:cNvPr id="2" name="Рисунок 1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7C8441-1133-6A52-607B-2A79CF025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7590"/>
            <a:ext cx="8664027" cy="2201996"/>
          </a:xfrm>
          <a:prstGeom prst="rect">
            <a:avLst/>
          </a:prstGeom>
        </p:spPr>
      </p:pic>
      <p:pic>
        <p:nvPicPr>
          <p:cNvPr id="3" name="Рисунок 2" descr="Изображение выглядит как Мультимедийное программное обеспечение, Графическое программное обеспечение, программное обеспечение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5096618-6256-7DC2-1464-D99ADCF49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084" y="4272256"/>
            <a:ext cx="8741916" cy="194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57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7EE13-8F7E-FD73-F19B-5C01B54D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3216A875-B00D-187D-B677-88BD6DE14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406376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44EC1434-493D-AFE1-E7BE-F1924D8D2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763213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6.97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6010687-FFB4-EEFA-39F4-3015FCDFF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BD1347-0E1C-7372-890D-4BC6FAFB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13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A1903A75-BF02-7D92-C45B-0BC046926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786554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0293F087-A077-7A1F-6485-2489EE460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89864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A2FE90B-266E-2A1B-9AFC-C839593FC3DA}"/>
              </a:ext>
            </a:extLst>
          </p:cNvPr>
          <p:cNvSpPr txBox="1"/>
          <p:nvPr/>
        </p:nvSpPr>
        <p:spPr>
          <a:xfrm>
            <a:off x="232597" y="204026"/>
            <a:ext cx="82408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</a:t>
            </a:r>
            <a:r>
              <a:rPr lang="ru-RU" sz="2800" dirty="0"/>
              <a:t>Таблички.</a:t>
            </a:r>
            <a:r>
              <a:rPr lang="en-US" sz="2800" dirty="0"/>
              <a:t>xlsx</a:t>
            </a:r>
            <a:r>
              <a:rPr lang="ru-RU" sz="2800" dirty="0"/>
              <a:t> и сжатая версия</a:t>
            </a:r>
          </a:p>
        </p:txBody>
      </p:sp>
      <p:pic>
        <p:nvPicPr>
          <p:cNvPr id="4" name="Рисунок 3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6F8710-2D91-0A6B-9663-8F1C94D2B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0" y="1581822"/>
            <a:ext cx="8623349" cy="1946867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75007A-30CF-DD11-5160-29303E5CD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531" y="4177970"/>
            <a:ext cx="8635469" cy="203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00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9B0F-0F6A-E391-19D8-324A1A94B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DC4E8F84-4BE7-D208-64EB-54D9E285F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64638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32C98C8E-B8DD-C280-0699-1A88E8386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443341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6.76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36A3CE1-9CAC-134A-7424-07B546AE8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7F1C07-6BE4-C98A-BF25-F1947B0F4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14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0BF1346-3174-6D80-B72F-35F64E922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860923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89B268E-55A0-2F0A-2CBE-331CE2F6123A}"/>
              </a:ext>
            </a:extLst>
          </p:cNvPr>
          <p:cNvGraphicFramePr>
            <a:graphicFrameLocks noGrp="1"/>
          </p:cNvGraphicFramePr>
          <p:nvPr/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5F842D4-0F07-D3E9-9849-438AF742A0E3}"/>
              </a:ext>
            </a:extLst>
          </p:cNvPr>
          <p:cNvSpPr txBox="1"/>
          <p:nvPr/>
        </p:nvSpPr>
        <p:spPr>
          <a:xfrm>
            <a:off x="232597" y="204026"/>
            <a:ext cx="82408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</a:t>
            </a:r>
            <a:r>
              <a:rPr lang="ru-RU" sz="2800" dirty="0"/>
              <a:t>Таблички.</a:t>
            </a:r>
            <a:r>
              <a:rPr lang="en-US" sz="2800" dirty="0"/>
              <a:t>xlsb</a:t>
            </a:r>
            <a:r>
              <a:rPr lang="ru-RU" sz="2800" dirty="0"/>
              <a:t> и сжатая версия</a:t>
            </a:r>
          </a:p>
        </p:txBody>
      </p:sp>
      <p:pic>
        <p:nvPicPr>
          <p:cNvPr id="2" name="Рисунок 1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568C050-46F7-4F3B-6C05-91401EC62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0418"/>
            <a:ext cx="8473440" cy="1870287"/>
          </a:xfrm>
          <a:prstGeom prst="rect">
            <a:avLst/>
          </a:prstGeom>
        </p:spPr>
      </p:pic>
      <p:pic>
        <p:nvPicPr>
          <p:cNvPr id="3" name="Рисунок 2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47FE22-693B-1C38-DBC4-CAA0557C1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4876" y="4292990"/>
            <a:ext cx="8537124" cy="187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45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6D473-2241-73EB-0BA1-C8D7408EB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D6E9C502-71CF-C6CD-FA35-DA370B66D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538855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1 566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79F85009-11BF-88ED-24B0-93F8EF8E4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317426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7.18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F569FB-BC65-E7CD-6726-B95C2C451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107D01C-CFA8-944B-37EB-F6AFFDFBB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15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0F35F56-1140-D3BA-84CF-0C5C93423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581308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604 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B3123002-163C-09D9-F808-068A7C886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98261"/>
              </p:ext>
            </p:extLst>
          </p:nvPr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E73D08F-2D28-2EBC-C040-9414EAA1E810}"/>
              </a:ext>
            </a:extLst>
          </p:cNvPr>
          <p:cNvSpPr txBox="1"/>
          <p:nvPr/>
        </p:nvSpPr>
        <p:spPr>
          <a:xfrm>
            <a:off x="232597" y="204026"/>
            <a:ext cx="82408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</a:t>
            </a:r>
            <a:r>
              <a:rPr lang="ru-RU" sz="2800" dirty="0"/>
              <a:t>звука.</a:t>
            </a:r>
            <a:r>
              <a:rPr lang="en-US" sz="2800" dirty="0"/>
              <a:t>wav</a:t>
            </a:r>
            <a:r>
              <a:rPr lang="ru-RU" sz="2800" dirty="0"/>
              <a:t> и сжатая версия</a:t>
            </a:r>
          </a:p>
        </p:txBody>
      </p:sp>
      <p:pic>
        <p:nvPicPr>
          <p:cNvPr id="4" name="Рисунок 3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81ADB6E-238A-01DF-66E2-EF1CB9322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" y="1559401"/>
            <a:ext cx="8606276" cy="2151569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Мультимедийное программное обеспечение, Графическое программное обеспечение, программное обеспечение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58FC5B-0456-2546-D283-34BB688E6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581" y="4224281"/>
            <a:ext cx="8709419" cy="194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166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4EB84-AFE1-CD1A-A560-5E84D1F1D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0AC35C84-6F5F-0C1A-28C4-A8BC71726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627300"/>
              </p:ext>
            </p:extLst>
          </p:nvPr>
        </p:nvGraphicFramePr>
        <p:xfrm>
          <a:off x="8839325" y="2780940"/>
          <a:ext cx="2828133" cy="461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612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126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9B397B2E-3E8C-F66D-D609-E00DE7268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479592"/>
              </p:ext>
            </p:extLst>
          </p:nvPr>
        </p:nvGraphicFramePr>
        <p:xfrm>
          <a:off x="8851320" y="1983991"/>
          <a:ext cx="2828133" cy="41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7.85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D0341F0-F485-65E3-F45B-FA26C0A1B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A14DF-B759-9A63-EB70-58EAD3AF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16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7071EAA-65CF-C91A-5A63-AD53E3587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722477"/>
              </p:ext>
            </p:extLst>
          </p:nvPr>
        </p:nvGraphicFramePr>
        <p:xfrm>
          <a:off x="395973" y="4410821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Размер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122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A50621A3-FDC6-B87F-EC47-88A273310F40}"/>
              </a:ext>
            </a:extLst>
          </p:cNvPr>
          <p:cNvGraphicFramePr>
            <a:graphicFrameLocks noGrp="1"/>
          </p:cNvGraphicFramePr>
          <p:nvPr/>
        </p:nvGraphicFramePr>
        <p:xfrm>
          <a:off x="395973" y="5400195"/>
          <a:ext cx="2828133" cy="565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016">
                  <a:extLst>
                    <a:ext uri="{9D8B030D-6E8A-4147-A177-3AD203B41FA5}">
                      <a16:colId xmlns:a16="http://schemas.microsoft.com/office/drawing/2014/main" val="3852776436"/>
                    </a:ext>
                  </a:extLst>
                </a:gridCol>
                <a:gridCol w="1559117">
                  <a:extLst>
                    <a:ext uri="{9D8B030D-6E8A-4147-A177-3AD203B41FA5}">
                      <a16:colId xmlns:a16="http://schemas.microsoft.com/office/drawing/2014/main" val="1792951911"/>
                    </a:ext>
                  </a:extLst>
                </a:gridCol>
              </a:tblGrid>
              <a:tr h="565685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Энтропия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918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3501D45-8A81-54E4-B08C-FA25D984F747}"/>
              </a:ext>
            </a:extLst>
          </p:cNvPr>
          <p:cNvSpPr txBox="1"/>
          <p:nvPr/>
        </p:nvSpPr>
        <p:spPr>
          <a:xfrm>
            <a:off x="232597" y="204026"/>
            <a:ext cx="82408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Гистограмма </a:t>
            </a:r>
            <a:r>
              <a:rPr lang="ru-RU" sz="2800" dirty="0"/>
              <a:t>распределения значений</a:t>
            </a:r>
            <a:r>
              <a:rPr lang="en-US" sz="2800" dirty="0"/>
              <a:t> </a:t>
            </a:r>
            <a:r>
              <a:rPr lang="ru-RU" sz="2800" dirty="0"/>
              <a:t>звука.</a:t>
            </a:r>
            <a:r>
              <a:rPr lang="en-US" sz="2800" dirty="0"/>
              <a:t>mp3</a:t>
            </a:r>
            <a:r>
              <a:rPr lang="ru-RU" sz="2800" dirty="0"/>
              <a:t> и сжатая версия</a:t>
            </a:r>
          </a:p>
        </p:txBody>
      </p:sp>
      <p:pic>
        <p:nvPicPr>
          <p:cNvPr id="2" name="Рисунок 1" descr="Изображение выглядит как Мультимедийное программное обеспечение, Графическое программное обеспечение, программное обеспечение, Редакт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23B6B62-2ACD-73CE-0E89-E5F9897E6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" y="1579200"/>
            <a:ext cx="8604811" cy="2157798"/>
          </a:xfrm>
          <a:prstGeom prst="rect">
            <a:avLst/>
          </a:prstGeom>
        </p:spPr>
      </p:pic>
      <p:pic>
        <p:nvPicPr>
          <p:cNvPr id="3" name="Рисунок 2" descr="Изображение выглядит как снимок экрана, Мультимедийное программное обеспечение, Графическ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54C9B1-8118-5526-C745-0E78BA200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1343" y="4272256"/>
            <a:ext cx="8690657" cy="194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00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8882" y="276086"/>
            <a:ext cx="10909640" cy="8016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Таблица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F30858B-779D-1BD0-F806-9B8BD3D66583}"/>
              </a:ext>
            </a:extLst>
          </p:cNvPr>
          <p:cNvSpPr/>
          <p:nvPr/>
        </p:nvSpPr>
        <p:spPr>
          <a:xfrm>
            <a:off x="3788330" y="1534160"/>
            <a:ext cx="4735910" cy="2580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984E350-63C9-5BC5-4419-2F4DFE652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208379"/>
              </p:ext>
            </p:extLst>
          </p:nvPr>
        </p:nvGraphicFramePr>
        <p:xfrm>
          <a:off x="300242" y="1104877"/>
          <a:ext cx="11424357" cy="5280132"/>
        </p:xfrm>
        <a:graphic>
          <a:graphicData uri="http://schemas.openxmlformats.org/drawingml/2006/table">
            <a:tbl>
              <a:tblPr/>
              <a:tblGrid>
                <a:gridCol w="3433175">
                  <a:extLst>
                    <a:ext uri="{9D8B030D-6E8A-4147-A177-3AD203B41FA5}">
                      <a16:colId xmlns:a16="http://schemas.microsoft.com/office/drawing/2014/main" val="599086641"/>
                    </a:ext>
                  </a:extLst>
                </a:gridCol>
                <a:gridCol w="1873856">
                  <a:extLst>
                    <a:ext uri="{9D8B030D-6E8A-4147-A177-3AD203B41FA5}">
                      <a16:colId xmlns:a16="http://schemas.microsoft.com/office/drawing/2014/main" val="1929636521"/>
                    </a:ext>
                  </a:extLst>
                </a:gridCol>
                <a:gridCol w="1861144">
                  <a:extLst>
                    <a:ext uri="{9D8B030D-6E8A-4147-A177-3AD203B41FA5}">
                      <a16:colId xmlns:a16="http://schemas.microsoft.com/office/drawing/2014/main" val="663672005"/>
                    </a:ext>
                  </a:extLst>
                </a:gridCol>
                <a:gridCol w="2128091">
                  <a:extLst>
                    <a:ext uri="{9D8B030D-6E8A-4147-A177-3AD203B41FA5}">
                      <a16:colId xmlns:a16="http://schemas.microsoft.com/office/drawing/2014/main" val="3444452278"/>
                    </a:ext>
                  </a:extLst>
                </a:gridCol>
                <a:gridCol w="2128091">
                  <a:extLst>
                    <a:ext uri="{9D8B030D-6E8A-4147-A177-3AD203B41FA5}">
                      <a16:colId xmlns:a16="http://schemas.microsoft.com/office/drawing/2014/main" val="3389150081"/>
                    </a:ext>
                  </a:extLst>
                </a:gridCol>
              </a:tblGrid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Файл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Объём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,Кб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Энтропия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Отношение объёмов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Отношение энтропий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280743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4,79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15772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LabsC_mpress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7,22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0,19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1,51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949875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LabsC_upx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6,49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0,13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1,35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737962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LabsCSharp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151,00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6,07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510611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LabsCSharp_mpress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7,80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0,42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1,29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884861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LabsCSharp_upx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487987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LabsPython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7870,00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7,99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428931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LabsPython_mpress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7708,00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7,85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287923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LabsPython_upx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7728,00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605994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Фото.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jpg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7,97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946439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Фото_7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z.jpg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7,97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087856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Фото.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png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986419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Фото_7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z.png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1,03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232914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Сказка.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doc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7,40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923887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Сказка_7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z.doc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0,81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283438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Сказка.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4,13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936666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Сказка_7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z.txt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7,76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0,50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1,88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043844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Таблица.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xlsx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6,97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151569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Таблица_7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z.xlsx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7,97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0,73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1,14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899925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Таблица.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xlsb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6,76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920210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Таблица_7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z.xlsb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7,97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0,70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1,18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379667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Звук.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wav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1566,00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7,18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878544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Звук_7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z.wav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604,00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0,39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1,11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013963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Звук.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mp3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126,00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7,85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678079"/>
                  </a:ext>
                </a:extLst>
              </a:tr>
              <a:tr h="1711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Звук_7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z.mp3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122,00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</a:t>
                      </a:r>
                      <a:endParaRPr lang="ru-RU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0,97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1,02</a:t>
                      </a:r>
                      <a:endParaRPr lang="ru-RU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962" marR="4962" marT="49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790945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F1D318-9876-BD95-42E5-C883426FA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801ACB-1E80-40D3-8ED3-00DFFFA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7360" y="6358941"/>
            <a:ext cx="2743200" cy="365125"/>
          </a:xfrm>
        </p:spPr>
        <p:txBody>
          <a:bodyPr/>
          <a:lstStyle/>
          <a:p>
            <a:fld id="{8CC8C628-6975-4CC2-A0F1-47F458287FF0}" type="slidenum">
              <a:rPr lang="ru-RU" smtClean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7043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50088"/>
            <a:ext cx="10515600" cy="861897"/>
          </a:xfrm>
        </p:spPr>
        <p:txBody>
          <a:bodyPr>
            <a:normAutofit/>
          </a:bodyPr>
          <a:lstStyle/>
          <a:p>
            <a:r>
              <a:rPr lang="ru-RU" sz="4000" dirty="0"/>
              <a:t>Вывод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5940" y="1253331"/>
            <a:ext cx="11120120" cy="51030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600" dirty="0"/>
              <a:t>1) Энтропия и сжимаемость обратно пропорциональны: чем ниже исходная энтропия, тем выше сжимаемость. Пример: С (</a:t>
            </a:r>
            <a:r>
              <a:rPr lang="ru-RU" sz="1600" dirty="0">
                <a:solidFill>
                  <a:srgbClr val="000000"/>
                </a:solidFill>
                <a:latin typeface="Aptos Narrow" panose="020B0004020202020204" pitchFamily="34" charset="0"/>
              </a:rPr>
              <a:t>4.79</a:t>
            </a:r>
            <a:r>
              <a:rPr lang="ru-RU" sz="1600" dirty="0"/>
              <a:t>) сжата UPX на 87.3%, Python (7.99) — лишь на 1.8%. Это полностью соответствует теории информации Шеннона.</a:t>
            </a:r>
          </a:p>
          <a:p>
            <a:pPr marL="0" indent="0">
              <a:buNone/>
            </a:pPr>
            <a:r>
              <a:rPr lang="ru-RU" sz="1600" dirty="0"/>
              <a:t>2) UPX — наиболее эффективный и универсальный упаковщик: UPX стабильно показал высокие результаты на всех типах файлов: C — 12.7% от оригинала, C# — 42.4%, Python — 98.2. </a:t>
            </a:r>
          </a:p>
          <a:p>
            <a:pPr marL="0" indent="0">
              <a:buNone/>
            </a:pPr>
            <a:r>
              <a:rPr lang="ru-RU" sz="1600" dirty="0"/>
              <a:t>3) MPRESS проявляет избирательную эффективность: для C-программы MPRESS не сработал. Для C# — показал лучший результат среди всех тестов (38.4% от оригинала). Для Python — бесполезен.</a:t>
            </a:r>
          </a:p>
          <a:p>
            <a:pPr marL="0" indent="0">
              <a:buNone/>
            </a:pPr>
            <a:r>
              <a:rPr lang="ru-RU" sz="1600" dirty="0"/>
              <a:t>4)</a:t>
            </a:r>
            <a:r>
              <a:rPr lang="ru-RU" sz="1600" b="1" dirty="0"/>
              <a:t> </a:t>
            </a:r>
            <a:r>
              <a:rPr lang="ru-RU" sz="1600" dirty="0"/>
              <a:t>Язык программирования и способ компиляции критически влияют на сжимаемость: при идентичной логике: C — низкая энтропия, отличное сжатие; C# — средняя энтропия, хорошее сжатие; Python — высокая энтропия, сжатие бесполезно. Вывод: оценивать сжимаемость нужно не только по языку, но и по способу дистрибуции.</a:t>
            </a:r>
          </a:p>
          <a:p>
            <a:pPr marL="0" indent="0">
              <a:buNone/>
            </a:pPr>
            <a:r>
              <a:rPr lang="ru-RU" sz="1600" dirty="0"/>
              <a:t>5) Текстовые форматы: парадокс «финального сжатия» .</a:t>
            </a:r>
            <a:r>
              <a:rPr lang="ru-RU" sz="1600" dirty="0" err="1"/>
              <a:t>txt</a:t>
            </a:r>
            <a:r>
              <a:rPr lang="ru-RU" sz="1600" dirty="0"/>
              <a:t> (4.13) — отлично сжимается. .</a:t>
            </a:r>
            <a:r>
              <a:rPr lang="ru-RU" sz="1600" dirty="0" err="1"/>
              <a:t>docx</a:t>
            </a:r>
            <a:r>
              <a:rPr lang="ru-RU" sz="1600" dirty="0"/>
              <a:t> — уже сжатые контейнеры. Повторная архивация бесполезна. Практический вывод: не архивируйте документы Word — они уже оптимизированы.</a:t>
            </a:r>
          </a:p>
          <a:p>
            <a:pPr marL="0" indent="0">
              <a:buNone/>
            </a:pPr>
            <a:r>
              <a:rPr lang="ru-RU" sz="1600" dirty="0"/>
              <a:t>6) Графические и аудиоформаты делятся на «сжимаемые» и «финальные». mp3, .</a:t>
            </a:r>
            <a:r>
              <a:rPr lang="ru-RU" sz="1600" dirty="0" err="1"/>
              <a:t>jpg</a:t>
            </a:r>
            <a:r>
              <a:rPr lang="ru-RU" sz="1600" dirty="0"/>
              <a:t>, .</a:t>
            </a:r>
            <a:r>
              <a:rPr lang="ru-RU" sz="1600" dirty="0" err="1"/>
              <a:t>png</a:t>
            </a:r>
            <a:r>
              <a:rPr lang="ru-RU" sz="1600" dirty="0"/>
              <a:t> (7.9+) — финальные форматы, повторное сжатие бессмысленно, а .</a:t>
            </a:r>
            <a:r>
              <a:rPr lang="ru-RU" sz="1600" dirty="0" err="1"/>
              <a:t>wav</a:t>
            </a:r>
            <a:r>
              <a:rPr lang="ru-RU" sz="1600" dirty="0"/>
              <a:t> сжимается. Пользователь должен понимать: JPG, PNG, MP3 — это уже результат сжатия.</a:t>
            </a:r>
          </a:p>
          <a:p>
            <a:pPr marL="0" indent="0">
              <a:buNone/>
            </a:pPr>
            <a:r>
              <a:rPr lang="ru-RU" sz="1600" dirty="0"/>
              <a:t>7) </a:t>
            </a:r>
            <a:r>
              <a:rPr lang="ru-RU" sz="1600" b="1" dirty="0"/>
              <a:t> </a:t>
            </a:r>
            <a:r>
              <a:rPr lang="ru-RU" sz="1600" dirty="0"/>
              <a:t>Гистограмма — наглядный индикатор степени сжатия: исходные файлы с низкой энтропией имеют пиковые гистограммы. После эффективной упаковки гистограмма становится равномерной («белый шум»). Это позволяет визуально, без расчётов, оценить сжимаемость файла.</a:t>
            </a:r>
          </a:p>
          <a:p>
            <a:pPr marL="0" indent="0">
              <a:buNone/>
            </a:pPr>
            <a:r>
              <a:rPr lang="ru-RU" sz="1600" dirty="0"/>
              <a:t>8) Энтропия — объективный и универсальный критерий эффективности сжатия: энтропия Шеннона позволяет предсказать сжимаемость, оценить работу упаковщика и сравнить форматы хранения. Работа подтвердила это на 4 классах файлов и 2 типах алгоритмов. Полученные закономерности имеют прямое практическое применение: выбор формата, оптимизация дистрибутивов, оценка необходимости упаковки.</a:t>
            </a:r>
          </a:p>
        </p:txBody>
      </p:sp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717F27-D23B-FE54-7791-32218449B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1EB64A-4323-3424-347E-B9C2E8E99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910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8BF6D-6408-DAA1-77B5-AB0FF7354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0BDBB1D-238A-45D9-630F-4E4B6F236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4350" y="3187267"/>
            <a:ext cx="3543300" cy="483466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6EC9229-D156-AF9D-613F-70E20556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19</a:t>
            </a:fld>
            <a:endParaRPr lang="ru-RU"/>
          </a:p>
        </p:txBody>
      </p:sp>
      <p:pic>
        <p:nvPicPr>
          <p:cNvPr id="4" name="Рисунок 3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F95CCD-4237-E6E7-3C5B-26C3688C1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022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1184</Words>
  <Application>Microsoft Office PowerPoint</Application>
  <PresentationFormat>Широкоэкранный</PresentationFormat>
  <Paragraphs>301</Paragraphs>
  <Slides>19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Aptos Narrow</vt:lpstr>
      <vt:lpstr>Arial</vt:lpstr>
      <vt:lpstr>Arial Black</vt:lpstr>
      <vt:lpstr>Calibri</vt:lpstr>
      <vt:lpstr>Calibri Light</vt:lpstr>
      <vt:lpstr>Times New Roman</vt:lpstr>
      <vt:lpstr>Тема Office</vt:lpstr>
      <vt:lpstr>Презентация PowerPoint</vt:lpstr>
      <vt:lpstr>Что мы делали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Таблица</vt:lpstr>
      <vt:lpstr>Вывод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Вероника Зверь</dc:creator>
  <cp:lastModifiedBy>Буланый Сергей Евгеньевич</cp:lastModifiedBy>
  <cp:revision>74</cp:revision>
  <dcterms:created xsi:type="dcterms:W3CDTF">2026-02-11T19:46:24Z</dcterms:created>
  <dcterms:modified xsi:type="dcterms:W3CDTF">2026-02-26T07:50:50Z</dcterms:modified>
</cp:coreProperties>
</file>